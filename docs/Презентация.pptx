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05740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4D92F8"/>
                </a:solidFill>
                <a:latin typeface="Segoe UI"/>
              </a:rPr>
              <a:t>СТРОЙРАДАР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487168"/>
            <a:ext cx="8778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E8EBF0"/>
                </a:solidFill>
                <a:latin typeface="Segoe UI"/>
              </a:rPr>
              <a:t>Автоматизированный сервис поиска</a:t>
            </a:r>
          </a:p>
          <a:p>
            <a:pPr algn="l">
              <a:lnSpc>
                <a:spcPct val="112000"/>
              </a:lnSpc>
            </a:pPr>
            <a:r>
              <a:rPr sz="4000" b="1">
                <a:solidFill>
                  <a:srgbClr val="E8EBF0"/>
                </a:solidFill>
                <a:latin typeface="Segoe UI"/>
              </a:rPr>
              <a:t>нарушений на строительных площадках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343400"/>
            <a:ext cx="8412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6A1B2"/>
                </a:solidFill>
                <a:latin typeface="Segoe UI"/>
              </a:rPr>
              <a:t>Снимки с камер видеонаблюдения сверяются с календарным планом СМР автоматически: система находит технику, определяет этап работ и объясняет каждое отклонение.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0644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6A1B2"/>
                </a:solidFill>
                <a:latin typeface="Segoe UI"/>
              </a:rPr>
              <a:t>Техническое задание Департамента градостроительной политики города Москвы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Что не работает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3442106" cy="22860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293004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8EBF0"/>
                </a:solidFill>
                <a:latin typeface="Segoe UI"/>
              </a:rPr>
              <a:t>Контроль вручную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32888"/>
            <a:ext cx="293004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Инженер открывает камеры по очереди, звонит подрядчику и оценивает ситуацию на глаз. На объект уходят часы, вывод остаётся субъективным.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4794" y="1755648"/>
            <a:ext cx="3442106" cy="22860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30826" y="1993392"/>
            <a:ext cx="293004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8EBF0"/>
                </a:solidFill>
                <a:latin typeface="Segoe UI"/>
              </a:rPr>
              <a:t>Отклонения видны поздно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0826" y="2532888"/>
            <a:ext cx="293004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Простой техники замечают, когда сроки уже сорваны. Управление получается реактивным: разбираются со следствиями, а не с причинами.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1220" y="1755648"/>
            <a:ext cx="3442106" cy="22860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4D9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47252" y="1993392"/>
            <a:ext cx="293004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8EBF0"/>
                </a:solidFill>
                <a:latin typeface="Segoe UI"/>
              </a:rPr>
              <a:t>Данные уже есть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7252" y="2532888"/>
            <a:ext cx="293004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Камеры на площадках стоят и снимают объективную картину: какая техника на объекте и когда. Этот поток просто не анализируется.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36168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E8EBF0"/>
                </a:solidFill>
                <a:latin typeface="Segoe UI"/>
              </a:rPr>
              <a:t>Ключевая ценность решения — доказать, что сопоставление кадров с графиком работ автоматизируется, а предупреждения об отклонениях можно объяснить.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Концепция: три потока и один вывод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3063240" cy="13716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1956816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8EBF0"/>
                </a:solidFill>
                <a:latin typeface="Segoe UI"/>
              </a:rPr>
              <a:t>Кадры с камер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95728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JPG, PNG, WebP, BMP.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У каждого кадра — дата съёмки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21608" y="2441448"/>
            <a:ext cx="685800" cy="1645920"/>
          </a:xfrm>
          <a:prstGeom prst="line">
            <a:avLst/>
          </a:prstGeom>
          <a:ln w="22225">
            <a:solidFill>
              <a:srgbClr val="4D92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8368" y="3383280"/>
            <a:ext cx="3063240" cy="13716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358444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8EBF0"/>
                </a:solidFill>
                <a:latin typeface="Segoe UI"/>
              </a:rPr>
              <a:t>Календарный план СМР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02336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CSV или Excel: этап,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даты, зона работ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21608" y="4069080"/>
            <a:ext cx="685800" cy="18288"/>
          </a:xfrm>
          <a:prstGeom prst="line">
            <a:avLst/>
          </a:prstGeom>
          <a:ln w="22225">
            <a:solidFill>
              <a:srgbClr val="4D92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8368" y="5010912"/>
            <a:ext cx="3063240" cy="13716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521208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8EBF0"/>
                </a:solidFill>
                <a:latin typeface="Segoe UI"/>
              </a:rPr>
              <a:t>Методика и справочник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650992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12 классов техники,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правила «этап → техника»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721608" y="4087368"/>
            <a:ext cx="685800" cy="1609344"/>
          </a:xfrm>
          <a:prstGeom prst="line">
            <a:avLst/>
          </a:prstGeom>
          <a:ln w="22225">
            <a:solidFill>
              <a:srgbClr val="4D92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407408" y="3081528"/>
            <a:ext cx="3200400" cy="201168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4D9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81728" y="32918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4D92F8"/>
                </a:solidFill>
                <a:latin typeface="Segoe UI"/>
              </a:rPr>
              <a:t>Ядро анализа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3767328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Детекция техники, агрегация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за сутки, сопоставление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с плановым этапом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07808" y="4087368"/>
            <a:ext cx="685800" cy="0"/>
          </a:xfrm>
          <a:prstGeom prst="line">
            <a:avLst/>
          </a:prstGeom>
          <a:ln w="22225">
            <a:solidFill>
              <a:srgbClr val="4D92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93608" y="1755648"/>
            <a:ext cx="3239719" cy="13716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31352" y="1956816"/>
            <a:ext cx="27825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8EBF0"/>
                </a:solidFill>
                <a:latin typeface="Segoe UI"/>
              </a:rPr>
              <a:t>Статус объекта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1352" y="2395728"/>
            <a:ext cx="278251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Простой, возможное нарушение,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смена стадии, норма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93608" y="3383280"/>
            <a:ext cx="3239719" cy="13716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531352" y="3584448"/>
            <a:ext cx="27825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8EBF0"/>
                </a:solidFill>
                <a:latin typeface="Segoe UI"/>
              </a:rPr>
              <a:t>Предупреждение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023360"/>
            <a:ext cx="278251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Формулировка, зона работ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и снимки-подтверждения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5010912"/>
            <a:ext cx="3239719" cy="13716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3F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531352" y="5212080"/>
            <a:ext cx="27825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8EBF0"/>
                </a:solidFill>
                <a:latin typeface="Segoe UI"/>
              </a:rPr>
              <a:t>Таймлайн план / факт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31352" y="5650992"/>
            <a:ext cx="278251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История по дням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с переходом к кадру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Архитектура и взаимодействие компонентов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2540431" cy="214884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956816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8EBF0"/>
                </a:solidFill>
                <a:latin typeface="Segoe UI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414016"/>
            <a:ext cx="210151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4D92F8"/>
                </a:solidFill>
                <a:latin typeface="Segoe UI"/>
              </a:rPr>
              <a:t>React 18 + Vite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4D92F8"/>
                </a:solidFill>
                <a:latin typeface="Segoe UI"/>
              </a:rPr>
              <a:t>Leaflet для карты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81528"/>
            <a:ext cx="21015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Дашборд города, карточка объекта,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снимок с рамками, разбор площадки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98799" y="2830068"/>
            <a:ext cx="237744" cy="0"/>
          </a:xfrm>
          <a:prstGeom prst="line">
            <a:avLst/>
          </a:prstGeom>
          <a:ln w="22225">
            <a:solidFill>
              <a:srgbClr val="4D92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36543" y="1755648"/>
            <a:ext cx="2540431" cy="214884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5999" y="1956816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8EBF0"/>
                </a:solidFill>
                <a:latin typeface="Segoe UI"/>
              </a:rPr>
              <a:t>Backend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5999" y="2414016"/>
            <a:ext cx="210151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4D92F8"/>
                </a:solidFill>
                <a:latin typeface="Segoe UI"/>
              </a:rPr>
              <a:t>FastAPI + Pydantic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4D92F8"/>
                </a:solidFill>
                <a:latin typeface="Segoe UI"/>
              </a:rPr>
              <a:t>14 эндпоинтов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5999" y="3081528"/>
            <a:ext cx="21015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Приём файлов, валидация, отдача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сводок и таймлайнов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76974" y="2830068"/>
            <a:ext cx="237744" cy="0"/>
          </a:xfrm>
          <a:prstGeom prst="line">
            <a:avLst/>
          </a:prstGeom>
          <a:ln w="22225">
            <a:solidFill>
              <a:srgbClr val="4D92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14718" y="1755648"/>
            <a:ext cx="2540431" cy="214884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4D9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34174" y="1956816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8EBF0"/>
                </a:solidFill>
                <a:latin typeface="Segoe UI"/>
              </a:rPr>
              <a:t>Домен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4" y="2414016"/>
            <a:ext cx="210151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4D92F8"/>
                </a:solidFill>
                <a:latin typeface="Segoe UI"/>
              </a:rPr>
              <a:t>Чистый Python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4D92F8"/>
                </a:solidFill>
                <a:latin typeface="Segoe UI"/>
              </a:rPr>
              <a:t>без зависимостей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4" y="3081528"/>
            <a:ext cx="21015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Методика «этап → техника»,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отклонения, статусы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55149" y="2830068"/>
            <a:ext cx="237744" cy="0"/>
          </a:xfrm>
          <a:prstGeom prst="line">
            <a:avLst/>
          </a:prstGeom>
          <a:ln w="22225">
            <a:solidFill>
              <a:srgbClr val="4D92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992893" y="1755648"/>
            <a:ext cx="2540431" cy="214884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212349" y="1956816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8EBF0"/>
                </a:solidFill>
                <a:latin typeface="Segoe UI"/>
              </a:rPr>
              <a:t>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2349" y="2414016"/>
            <a:ext cx="210151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4D92F8"/>
                </a:solidFill>
                <a:latin typeface="Segoe UI"/>
              </a:rPr>
              <a:t>Ultralytics YOLOv8m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4D92F8"/>
                </a:solidFill>
                <a:latin typeface="Segoe UI"/>
              </a:rPr>
              <a:t>OpenCV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2349" y="3081528"/>
            <a:ext cx="21015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Детекция 12 классов техники,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96A1B2"/>
                </a:solidFill>
                <a:latin typeface="Segoe UI"/>
              </a:rPr>
              <a:t>пороги по классу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270248"/>
            <a:ext cx="10874959" cy="132588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4480560"/>
            <a:ext cx="103263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BF0"/>
                </a:solidFill>
                <a:latin typeface="Segoe UI"/>
              </a:rPr>
              <a:t>Хранилище: data/store.json — объекты, планы, снимки и детекции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882896"/>
            <a:ext cx="103263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Отчёты за день не хранятся, а пересчитываются из плана и снимков при каждом запросе — правка методики сразу меняет выводы по всей истории. Домен не знает ни про HTTP, ни про модель: он принимает словарь «класс → количество», поэтому методика тестируется без GPU и без весов.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ОБОСНОВАНИЕ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Почему именно этот стек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55648"/>
          <a:ext cx="10874959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Выбор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Причина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Альтернатива и почему отказались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YOLOv8m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Один прогон на кадр, готовый пайплайн дообучения, работает на CPU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Detectron2 точнее на мелких объектах, но тяжелее в развёртывании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Дообучение, не zero-shot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Строительная техника в COCO отсутствует как классы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Промпт-детекторы дают нестабильные имена классов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FastAPI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Асинхронная загрузка файлов и автодокументация OpenAPI из коробки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Flask потребовал бы ручных схем и валидации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React + Vite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Нужен интерактив: карта, оверлеи рамок, таймлайн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Streamlit быстрее, но не даёт нужной плотности интерфейса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JSON-хранилище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Прототип запускается одной командой, без СУБД и миграций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PostgreSQL — следующий шаг, изолирован в одном модуле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Порог на класс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Башенный кран и грузовик распознаются хуже — им нужен мягкий порог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Единый порог терял слабые классы целиком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СХЕМА СОПОСТАВЛЕНИЯ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Как снимок связывается с этапом графика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682953" cy="1874519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1920240"/>
            <a:ext cx="131719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4D92F8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31719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BF0"/>
                </a:solidFill>
                <a:latin typeface="Segoe UI"/>
              </a:rPr>
              <a:t>Кадр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715768"/>
            <a:ext cx="131719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>
                <a:solidFill>
                  <a:srgbClr val="96A1B2"/>
                </a:solidFill>
                <a:latin typeface="Segoe UI"/>
              </a:rPr>
              <a:t>Дата съёмки —</a:t>
            </a:r>
          </a:p>
          <a:p>
            <a:pPr algn="l">
              <a:lnSpc>
                <a:spcPct val="122000"/>
              </a:lnSpc>
            </a:pPr>
            <a:r>
              <a:rPr sz="1050" b="0">
                <a:solidFill>
                  <a:srgbClr val="96A1B2"/>
                </a:solidFill>
                <a:latin typeface="Segoe UI"/>
              </a:rPr>
              <a:t>ключ связи с планом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96769" y="1755648"/>
            <a:ext cx="1682953" cy="1874519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4D9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679649" y="1920240"/>
            <a:ext cx="131719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4D92F8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9649" y="2286000"/>
            <a:ext cx="131719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BF0"/>
                </a:solidFill>
                <a:latin typeface="Segoe UI"/>
              </a:rPr>
              <a:t>Детекция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649" y="2715768"/>
            <a:ext cx="131719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>
                <a:solidFill>
                  <a:srgbClr val="96A1B2"/>
                </a:solidFill>
                <a:latin typeface="Segoe UI"/>
              </a:rPr>
              <a:t>YOLO с порогом 0,05:</a:t>
            </a:r>
          </a:p>
          <a:p>
            <a:pPr algn="l">
              <a:lnSpc>
                <a:spcPct val="122000"/>
              </a:lnSpc>
            </a:pPr>
            <a:r>
              <a:rPr sz="1050" b="0">
                <a:solidFill>
                  <a:srgbClr val="96A1B2"/>
                </a:solidFill>
                <a:latin typeface="Segoe UI"/>
              </a:rPr>
              <a:t>не терять слабые объекты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5170" y="1755648"/>
            <a:ext cx="1682953" cy="1874519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18050" y="1920240"/>
            <a:ext cx="131719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4D92F8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8050" y="2286000"/>
            <a:ext cx="131719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BF0"/>
                </a:solidFill>
                <a:latin typeface="Segoe UI"/>
              </a:rPr>
              <a:t>Фильтр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8050" y="2715768"/>
            <a:ext cx="131719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>
                <a:solidFill>
                  <a:srgbClr val="96A1B2"/>
                </a:solidFill>
                <a:latin typeface="Segoe UI"/>
              </a:rPr>
              <a:t>Свой порог уверенности</a:t>
            </a:r>
          </a:p>
          <a:p>
            <a:pPr algn="l">
              <a:lnSpc>
                <a:spcPct val="122000"/>
              </a:lnSpc>
            </a:pPr>
            <a:r>
              <a:rPr sz="1050" b="0">
                <a:solidFill>
                  <a:srgbClr val="96A1B2"/>
                </a:solidFill>
                <a:latin typeface="Segoe UI"/>
              </a:rPr>
              <a:t>у каждого класса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3571" y="1755648"/>
            <a:ext cx="1682953" cy="1874519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6451" y="1920240"/>
            <a:ext cx="131719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4D92F8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6451" y="2286000"/>
            <a:ext cx="131719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BF0"/>
                </a:solidFill>
                <a:latin typeface="Segoe UI"/>
              </a:rPr>
              <a:t>Сутки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6451" y="2715768"/>
            <a:ext cx="131719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>
                <a:solidFill>
                  <a:srgbClr val="96A1B2"/>
                </a:solidFill>
                <a:latin typeface="Segoe UI"/>
              </a:rPr>
              <a:t>Детекции всех кадров</a:t>
            </a:r>
          </a:p>
          <a:p>
            <a:pPr algn="l">
              <a:lnSpc>
                <a:spcPct val="122000"/>
              </a:lnSpc>
            </a:pPr>
            <a:r>
              <a:rPr sz="1050" b="0">
                <a:solidFill>
                  <a:srgbClr val="96A1B2"/>
                </a:solidFill>
                <a:latin typeface="Segoe UI"/>
              </a:rPr>
              <a:t>даты сводятся в счётчики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1972" y="1755648"/>
            <a:ext cx="1682953" cy="1874519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26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94852" y="1920240"/>
            <a:ext cx="131719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4D92F8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4852" y="2286000"/>
            <a:ext cx="131719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BF0"/>
                </a:solidFill>
                <a:latin typeface="Segoe UI"/>
              </a:rPr>
              <a:t>План на дату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4852" y="2715768"/>
            <a:ext cx="131719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>
                <a:solidFill>
                  <a:srgbClr val="96A1B2"/>
                </a:solidFill>
                <a:latin typeface="Segoe UI"/>
              </a:rPr>
              <a:t>Какой этап должен идти</a:t>
            </a:r>
          </a:p>
          <a:p>
            <a:pPr algn="l">
              <a:lnSpc>
                <a:spcPct val="122000"/>
              </a:lnSpc>
            </a:pPr>
            <a:r>
              <a:rPr sz="1050" b="0">
                <a:solidFill>
                  <a:srgbClr val="96A1B2"/>
                </a:solidFill>
                <a:latin typeface="Segoe UI"/>
              </a:rPr>
              <a:t>и в какой зоне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50373" y="1755648"/>
            <a:ext cx="1682953" cy="1874519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4D9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033253" y="1920240"/>
            <a:ext cx="131719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4D92F8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33253" y="2286000"/>
            <a:ext cx="131719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BF0"/>
                </a:solidFill>
                <a:latin typeface="Segoe UI"/>
              </a:rPr>
              <a:t>Вывод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3253" y="2715768"/>
            <a:ext cx="131719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>
                <a:solidFill>
                  <a:srgbClr val="96A1B2"/>
                </a:solidFill>
                <a:latin typeface="Segoe UI"/>
              </a:rPr>
              <a:t>Маркер и звено:</a:t>
            </a:r>
          </a:p>
          <a:p>
            <a:pPr algn="l">
              <a:lnSpc>
                <a:spcPct val="122000"/>
              </a:lnSpc>
            </a:pPr>
            <a:r>
              <a:rPr sz="1050" b="0">
                <a:solidFill>
                  <a:srgbClr val="96A1B2"/>
                </a:solidFill>
                <a:latin typeface="Segoe UI"/>
              </a:rPr>
              <a:t>статус и отклонения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041648"/>
            <a:ext cx="10874959" cy="16002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50976" y="4261104"/>
            <a:ext cx="1028974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8EBF0"/>
                </a:solidFill>
                <a:latin typeface="Segoe UI"/>
              </a:rPr>
              <a:t>Пример из ТЗ: устройство котлована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4700016"/>
            <a:ext cx="10289743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По плану 10 марта идёт откопка котлована в зоне «Котлован А». На кадрах за этот день система видит экскаватор — маркер этапа на месте, работы действительно начались. Но самосвалов и грузовиков в кадре нет: звено вывоза грунта разорвано. Пользователь получает предупреждение о возможном снижении темпа работ с указанием зоны и ссылками на снимки-подтверждения.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ПРАВИЛА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Методика «этап работ → необходимая техника»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45920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96A1B2"/>
                </a:solidFill>
                <a:latin typeface="Segoe UI"/>
              </a:rPr>
              <a:t>Маркер — машина, по которой этап опознаётся однозначно. Звено — набор машин, без которых работа физически не идёт: внутри группы достаточно любой машины, но все группы должны быть закрыты одновременно.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2414016"/>
          <a:ext cx="1087495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8739"/>
                <a:gridCol w="2718739"/>
                <a:gridCol w="2718739"/>
                <a:gridCol w="2718742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Этап СМР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Маркерная техника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Звено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Отсутствует звено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Расчистка участка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бульдозер, погрузчик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самосвал или грузовик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вывозить нечем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Откопка котлована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экскаватор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самосвал или грузовик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копать можно, вывозить нечем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Устройство фундаментов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сваебой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автокран или кран-манипулятор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сваи нечем подавать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Монтаж каркаса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кран, миксер или насос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миксер и насос, если бетон уже есть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насос без смеси простаивает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Благоустройство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каток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не требуется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4818888"/>
            <a:ext cx="108749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Самосвал, грузовик, автокран и кран-манипулятор сами этап не открывают. Каток вместе с экскаватором или бульдозером остаётся котлованом или расчисткой. Башенный кран без бетона звено не требует.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ПРЕДУПРЕЖДЕНИЯ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Отклонения, которые находит система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3442106" cy="22860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293004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8EBF0"/>
                </a:solidFill>
                <a:latin typeface="Segoe UI"/>
              </a:rPr>
              <a:t>Нет необходимой техники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32888"/>
            <a:ext cx="293004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По календарю этап идёт, маркерной техники на кадрах нет. Отставание или неявка подрядной техники.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Критично · missing_required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4794" y="1755648"/>
            <a:ext cx="3442106" cy="22860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E639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30826" y="1993392"/>
            <a:ext cx="293004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8EBF0"/>
                </a:solidFill>
                <a:latin typeface="Segoe UI"/>
              </a:rPr>
              <a:t>Неполное звено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0826" y="2532888"/>
            <a:ext cx="293004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Маркер есть, звено разорвано: экскаватор без самосвалов, бетононасос без миксера. Формально работа идёт, фактически — простой.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Простой · incomplete_link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1220" y="1755648"/>
            <a:ext cx="3442106" cy="228600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4D9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47252" y="1993392"/>
            <a:ext cx="293004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8EBF0"/>
                </a:solidFill>
                <a:latin typeface="Segoe UI"/>
              </a:rPr>
              <a:t>Техника не под этап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7252" y="2532888"/>
            <a:ext cx="293004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На кадре техника другого этапа. Не нарушение само по себе, но сигнал о смене стадии раньше или позже графика.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Предупреждение · unexpected_equipment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36168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E8EBF0"/>
                </a:solidFill>
                <a:latin typeface="Segoe UI"/>
              </a:rPr>
              <a:t>Каждое отклонение несёт готовую формулировку, затронутую зону из плана и ссылки на снимки — предупреждение можно проверить, а не только прочитать.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Модель и качество распознавания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55648"/>
          <a:ext cx="1087495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479"/>
                <a:gridCol w="54374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Параметр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Значение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Архитектура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YOLOv8m, дообучение из предобученных весов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Классов техники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12 (перечень ТЗ покрыт полностью)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Разрешение / эпохи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640 / 100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Precision / Recall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0.821 / 0.832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mAP@50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0.859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mAP@50-95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0.651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Скорость на CPU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медиана 0,52 с на кадр, 1,9 кадр/с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601968" y="1755648"/>
            <a:ext cx="4931359" cy="3108960"/>
          </a:xfrm>
          <a:prstGeom prst="roundRect">
            <a:avLst>
              <a:gd name="adj" fmla="val 4500"/>
            </a:avLst>
          </a:prstGeom>
          <a:solidFill>
            <a:srgbClr val="141A24"/>
          </a:solidFill>
          <a:ln w="12700">
            <a:solidFill>
              <a:srgbClr val="4D9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76288" y="1993392"/>
            <a:ext cx="43827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8EBF0"/>
                </a:solidFill>
                <a:latin typeface="Segoe UI"/>
              </a:rPr>
              <a:t>Проверочный набор собран самостоятельно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6288" y="2468880"/>
            <a:ext cx="438271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6A1B2"/>
                </a:solidFill>
                <a:latin typeface="Segoe UI"/>
              </a:rPr>
              <a:t>ТЗ не даёт отдельного набора для проверки, его собирает eval_model.py.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6A1B2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6A1B2"/>
                </a:solidFill>
                <a:latin typeface="Segoe UI"/>
              </a:rPr>
              <a:t>В отчёте: просмотрено 86 кадров, отобрано 17, задействовано 10 из 12 классов.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6A1B2"/>
                </a:solidFill>
                <a:latin typeface="Segoe UI"/>
              </a:rPr>
              <a:t>Освещённость: яркий день, пасмурно, сумерки и контраст.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6A1B2"/>
                </a:solidFill>
                <a:latin typeface="Segoe UI"/>
              </a:rPr>
              <a:t>Фон и сезон: зелёный сезон, снег и межсезонье, без зелени.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6A1B2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6A1B2"/>
                </a:solidFill>
                <a:latin typeface="Segoe UI"/>
              </a:rPr>
              <a:t>Скорость измеряется в рантайме: /api/detect возвращает inference_ms, /api/demo/analyze — среднее и максимум по пачке кадров.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Дашборд: что требует внимания в городе</a:t>
            </a:r>
          </a:p>
        </p:txBody>
      </p:sp>
      <p:pic>
        <p:nvPicPr>
          <p:cNvPr id="5" name="Picture 4" descr="дашбор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887" y="1572768"/>
            <a:ext cx="7233920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06440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Кадр с камеры с рамками распознанной техники, вердикт по объекту, карта и список объектов с фильтром по статусу.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Объект: план, факт и история по дням</a:t>
            </a:r>
          </a:p>
        </p:txBody>
      </p:sp>
      <p:pic>
        <p:nvPicPr>
          <p:cNvPr id="5" name="Picture 4" descr="объект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887" y="1572768"/>
            <a:ext cx="7233920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06440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Карточка объекта: календарный план и таймлайн. Предупреждение за день открывается кнопкой «Открыть».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Методика доступна пользователю в интерфейсе</a:t>
            </a:r>
          </a:p>
        </p:txBody>
      </p:sp>
      <p:pic>
        <p:nvPicPr>
          <p:cNvPr id="5" name="Picture 4" descr="методик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887" y="1572768"/>
            <a:ext cx="7233920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06440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96A1B2"/>
                </a:solidFill>
                <a:latin typeface="Segoe UI"/>
              </a:rPr>
              <a:t>Правила сопоставления, типы отклонений и пороги по классам показаны в приложении: жюри и заказчик видят, по какой логике вынесен вердикт.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ДОСТОВЕРНОСТЬ АНАЛИТИКИ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Рекомендации по установке камер на площадках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64208"/>
            <a:ext cx="10874959" cy="46451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50">
                <a:solidFill>
                  <a:srgbClr val="4D92F8"/>
                </a:solidFill>
                <a:latin typeface="Segoe UI"/>
              </a:rPr>
              <a:t>— </a:t>
            </a:r>
            <a:r>
              <a:rPr sz="1350" b="1">
                <a:solidFill>
                  <a:srgbClr val="E8EBF0"/>
                </a:solidFill>
                <a:latin typeface="Segoe UI"/>
              </a:rPr>
              <a:t>Обзор всей рабочей зоны</a:t>
            </a:r>
            <a:r>
              <a:rPr sz="1350">
                <a:solidFill>
                  <a:srgbClr val="96A1B2"/>
                </a:solidFill>
                <a:latin typeface="Segoe UI"/>
              </a:rPr>
              <a:t> Камера ставится так, чтобы в кадр попадал весь фронт работ, а не отдельный угол. Техника вне кадра для системы равна отсутствию техники.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50">
                <a:solidFill>
                  <a:srgbClr val="4D92F8"/>
                </a:solidFill>
                <a:latin typeface="Segoe UI"/>
              </a:rPr>
              <a:t>— </a:t>
            </a:r>
            <a:r>
              <a:rPr sz="1350" b="1">
                <a:solidFill>
                  <a:srgbClr val="E8EBF0"/>
                </a:solidFill>
                <a:latin typeface="Segoe UI"/>
              </a:rPr>
              <a:t>Высота 6–12 метров, угол наклона 15–30°</a:t>
            </a:r>
            <a:r>
              <a:rPr sz="1350">
                <a:solidFill>
                  <a:srgbClr val="96A1B2"/>
                </a:solidFill>
                <a:latin typeface="Segoe UI"/>
              </a:rPr>
              <a:t> Снижает перекрытие машин друг другом и даёт силуэт целиком — именно по силуэту модель различает автокран, кран-манипулятор и башенный кран.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50">
                <a:solidFill>
                  <a:srgbClr val="4D92F8"/>
                </a:solidFill>
                <a:latin typeface="Segoe UI"/>
              </a:rPr>
              <a:t>— </a:t>
            </a:r>
            <a:r>
              <a:rPr sz="1350" b="1">
                <a:solidFill>
                  <a:srgbClr val="E8EBF0"/>
                </a:solidFill>
                <a:latin typeface="Segoe UI"/>
              </a:rPr>
              <a:t>Разрешение не ниже Full HD, техника — минимум 80 пикселей по длинной стороне</a:t>
            </a:r>
            <a:r>
              <a:rPr sz="1350">
                <a:solidFill>
                  <a:srgbClr val="96A1B2"/>
                </a:solidFill>
                <a:latin typeface="Segoe UI"/>
              </a:rPr>
              <a:t> При меньшем масштабе классы начинают путаться.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50">
                <a:solidFill>
                  <a:srgbClr val="4D92F8"/>
                </a:solidFill>
                <a:latin typeface="Segoe UI"/>
              </a:rPr>
              <a:t>— </a:t>
            </a:r>
            <a:r>
              <a:rPr sz="1350" b="1">
                <a:solidFill>
                  <a:srgbClr val="E8EBF0"/>
                </a:solidFill>
                <a:latin typeface="Segoe UI"/>
              </a:rPr>
              <a:t>Одна камера на одну зону плана</a:t>
            </a:r>
            <a:r>
              <a:rPr sz="1350">
                <a:solidFill>
                  <a:srgbClr val="96A1B2"/>
                </a:solidFill>
                <a:latin typeface="Segoe UI"/>
              </a:rPr>
              <a:t> Привязка отклонения к участку настолько точна, насколько зоны разделены физически.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50">
                <a:solidFill>
                  <a:srgbClr val="4D92F8"/>
                </a:solidFill>
                <a:latin typeface="Segoe UI"/>
              </a:rPr>
              <a:t>— </a:t>
            </a:r>
            <a:r>
              <a:rPr sz="1350" b="1">
                <a:solidFill>
                  <a:srgbClr val="E8EBF0"/>
                </a:solidFill>
                <a:latin typeface="Segoe UI"/>
              </a:rPr>
              <a:t>Съёмка по расписанию, 4–6 кадров за смену</a:t>
            </a:r>
            <a:r>
              <a:rPr sz="1350">
                <a:solidFill>
                  <a:srgbClr val="96A1B2"/>
                </a:solidFill>
                <a:latin typeface="Segoe UI"/>
              </a:rPr>
              <a:t> Единица анализа — сутки; несколько кадров страхуют от случайного момента, когда машина уехала.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50">
                <a:solidFill>
                  <a:srgbClr val="4D92F8"/>
                </a:solidFill>
                <a:latin typeface="Segoe UI"/>
              </a:rPr>
              <a:t>— </a:t>
            </a:r>
            <a:r>
              <a:rPr sz="1350" b="1">
                <a:solidFill>
                  <a:srgbClr val="E8EBF0"/>
                </a:solidFill>
                <a:latin typeface="Segoe UI"/>
              </a:rPr>
              <a:t>Точное время в метаданных и синхронизация NTP</a:t>
            </a:r>
            <a:r>
              <a:rPr sz="1350">
                <a:solidFill>
                  <a:srgbClr val="96A1B2"/>
                </a:solidFill>
                <a:latin typeface="Segoe UI"/>
              </a:rPr>
              <a:t> Дата съёмки — это ключ связи с календарным планом; сбитые часы ломают сопоставление.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50">
                <a:solidFill>
                  <a:srgbClr val="4D92F8"/>
                </a:solidFill>
                <a:latin typeface="Segoe UI"/>
              </a:rPr>
              <a:t>— </a:t>
            </a:r>
            <a:r>
              <a:rPr sz="1350" b="1">
                <a:solidFill>
                  <a:srgbClr val="E8EBF0"/>
                </a:solidFill>
                <a:latin typeface="Segoe UI"/>
              </a:rPr>
              <a:t>Стабильный ракурс и жёсткое крепление</a:t>
            </a:r>
            <a:r>
              <a:rPr sz="1350">
                <a:solidFill>
                  <a:srgbClr val="96A1B2"/>
                </a:solidFill>
                <a:latin typeface="Segoe UI"/>
              </a:rPr>
              <a:t> Смена ракурса обесценивает историю наблюдений по объекту.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50">
                <a:solidFill>
                  <a:srgbClr val="4D92F8"/>
                </a:solidFill>
                <a:latin typeface="Segoe UI"/>
              </a:rPr>
              <a:t>— </a:t>
            </a:r>
            <a:r>
              <a:rPr sz="1350" b="1">
                <a:solidFill>
                  <a:srgbClr val="E8EBF0"/>
                </a:solidFill>
                <a:latin typeface="Segoe UI"/>
              </a:rPr>
              <a:t>Контровой свет, очистка объектива, подсветка</a:t>
            </a:r>
            <a:r>
              <a:rPr sz="1350">
                <a:solidFill>
                  <a:srgbClr val="96A1B2"/>
                </a:solidFill>
                <a:latin typeface="Segoe UI"/>
              </a:rPr>
              <a:t> Солнце в объектив, пыль и наледь снижают полноту распознавания сильнее, чем сумерки.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Масштабирование и развитие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55648"/>
          <a:ext cx="10874959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Направление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Что даёт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Как реализуется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Поток вместо загрузки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Контроль в режиме, близком к реальному времени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Приём кадров по RTSP и очередь задач вместо ручной загрузки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СУБД и история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Десятки тысяч объектов, аналитика по округам и подрядчикам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PostgreSQL, изолирован в backend/store.py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Трекинг техники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Учёт машино-часов, а не только факта наличия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ByteTrack поверх детекций, идентификация между кадрами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Новые этапы и классы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Отделка и инженерные системы, спецтехника заказчика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Методика и справочник — это данные: добавление этапа не меняет код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Интеграция с ИСУП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План приходит сам, отклонение уходит в задачу подрядчику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Импорт графика по API вместо файла, вебхуки на отклонения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Дообучение на своих данных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Рост качества на конкретных площадках заказчика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Разметка спорных кадров из накопленной истории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4D92F8"/>
                </a:solidFill>
                <a:latin typeface="Segoe UI"/>
              </a:rPr>
              <a:t>ИТОГ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8EBF0"/>
                </a:solidFill>
                <a:latin typeface="Segoe UI"/>
              </a:rPr>
              <a:t>Что закрыто по требованиям ТЗ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55648"/>
          <a:ext cx="10874959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479"/>
                <a:gridCol w="54374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Требование раздела 2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8EBF0"/>
                          </a:solidFill>
                          <a:latin typeface="Segoe UI"/>
                        </a:rPr>
                        <a:t>Реализация</a:t>
                      </a:r>
                    </a:p>
                  </a:txBody>
                  <a:tcPr anchor="ctr">
                    <a:solidFill>
                      <a:srgbClr val="1C25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Обнаружение и классификация техники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YOLOv8m, 12 классов, mAP@50 0.859, пороги уверенности на класс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Сопоставление с графиком СМР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Методика «этап → техника»: 5 этапов, маркеры и звенья, план из CSV и Excel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Визуализация результатов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Дашборд города, карточка объекта, снимок с рамками, разбор площадки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Выявление отклонений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3 типа отклонений с зоной работ и снимками-подтверждениями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Пример из ТЗ про котлован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Экскаватор без самосвалов даёт предупреждение; закреплено тестом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8EBF0"/>
                          </a:solidFill>
                          <a:latin typeface="Segoe UI"/>
                        </a:rPr>
                        <a:t>Запуск и воспроизводимость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96A1B2"/>
                          </a:solidFill>
                          <a:latin typeface="Segoe UI"/>
                        </a:rPr>
                        <a:t>Docker Compose, скрипт загрузки весов, тесты методики, отчёт о тестировании</a:t>
                      </a:r>
                    </a:p>
                  </a:txBody>
                  <a:tcPr anchor="ctr">
                    <a:solidFill>
                      <a:srgbClr val="141A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636008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4D92F8"/>
                </a:solidFill>
                <a:latin typeface="Segoe UI"/>
              </a:rPr>
              <a:t>Прототип запускается одной командой: docker compose up --build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