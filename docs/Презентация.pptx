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2057400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4D92F8"/>
                </a:solidFill>
                <a:latin typeface="Segoe UI"/>
              </a:rPr>
              <a:t>BUILD WATCH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487168"/>
            <a:ext cx="87782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>
                <a:solidFill>
                  <a:srgbClr val="E8EBF0"/>
                </a:solidFill>
                <a:latin typeface="Segoe UI"/>
              </a:rPr>
              <a:t>Автоматизированный сервис поиска</a:t>
            </a:r>
          </a:p>
          <a:p>
            <a:pPr algn="l">
              <a:lnSpc>
                <a:spcPct val="112000"/>
              </a:lnSpc>
            </a:pPr>
            <a:r>
              <a:rPr sz="4000" b="1">
                <a:solidFill>
                  <a:srgbClr val="E8EBF0"/>
                </a:solidFill>
                <a:latin typeface="Segoe UI"/>
              </a:rPr>
              <a:t>нарушений на строительных площадках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343400"/>
            <a:ext cx="84124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96A1B2"/>
                </a:solidFill>
                <a:latin typeface="Segoe UI"/>
              </a:rPr>
              <a:t>Снимки с камер видеонаблюдения сверяются с календарным планом СМР автоматически: система находит технику, определяет этап работ и объясняет каждое отклонение.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806440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96A1B2"/>
                </a:solidFill>
                <a:latin typeface="Segoe UI"/>
              </a:rPr>
              <a:t>Техническое задание Департамента градостроительной политики города Москвы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4D92F8"/>
                </a:solidFill>
                <a:latin typeface="Segoe UI"/>
              </a:rPr>
              <a:t>ЗАДАЧА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1087495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E8EBF0"/>
                </a:solidFill>
                <a:latin typeface="Segoe UI"/>
              </a:rPr>
              <a:t>Что не работает сегодня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755648"/>
            <a:ext cx="3442106" cy="2286000"/>
          </a:xfrm>
          <a:prstGeom prst="roundRect">
            <a:avLst>
              <a:gd name="adj" fmla="val 4500"/>
            </a:avLst>
          </a:prstGeom>
          <a:solidFill>
            <a:srgbClr val="141A24"/>
          </a:solidFill>
          <a:ln w="12700">
            <a:solidFill>
              <a:srgbClr val="26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14400" y="1993392"/>
            <a:ext cx="293004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E8EBF0"/>
                </a:solidFill>
                <a:latin typeface="Segoe UI"/>
              </a:rPr>
              <a:t>Контроль вручную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32888"/>
            <a:ext cx="2930042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96A1B2"/>
                </a:solidFill>
                <a:latin typeface="Segoe UI"/>
              </a:rPr>
              <a:t>Инженер открывает камеры по очереди, звонит подрядчику и оценивает ситуацию на глаз. На объект уходят часы, вывод остаётся субъективным.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4794" y="1755648"/>
            <a:ext cx="3442106" cy="2286000"/>
          </a:xfrm>
          <a:prstGeom prst="roundRect">
            <a:avLst>
              <a:gd name="adj" fmla="val 4500"/>
            </a:avLst>
          </a:prstGeom>
          <a:solidFill>
            <a:srgbClr val="141A24"/>
          </a:solidFill>
          <a:ln w="12700">
            <a:solidFill>
              <a:srgbClr val="26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630826" y="1993392"/>
            <a:ext cx="293004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E8EBF0"/>
                </a:solidFill>
                <a:latin typeface="Segoe UI"/>
              </a:rPr>
              <a:t>Отклонения видны поздно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0826" y="2532888"/>
            <a:ext cx="2930042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96A1B2"/>
                </a:solidFill>
                <a:latin typeface="Segoe UI"/>
              </a:rPr>
              <a:t>Простой техники замечают, когда сроки уже сорваны. Управление получается реактивным: разбираются со следствиями, а не с причинами.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1220" y="1755648"/>
            <a:ext cx="3442106" cy="2286000"/>
          </a:xfrm>
          <a:prstGeom prst="roundRect">
            <a:avLst>
              <a:gd name="adj" fmla="val 4500"/>
            </a:avLst>
          </a:prstGeom>
          <a:solidFill>
            <a:srgbClr val="141A24"/>
          </a:solidFill>
          <a:ln w="12700">
            <a:solidFill>
              <a:srgbClr val="4D9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347252" y="1993392"/>
            <a:ext cx="293004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E8EBF0"/>
                </a:solidFill>
                <a:latin typeface="Segoe UI"/>
              </a:rPr>
              <a:t>Данные уже есть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7252" y="2532888"/>
            <a:ext cx="2930042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96A1B2"/>
                </a:solidFill>
                <a:latin typeface="Segoe UI"/>
              </a:rPr>
              <a:t>Камеры на площадках стоят и снимают объективную картину: какая техника на объекте и когда. Этот поток просто не анализируется.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361688"/>
            <a:ext cx="1087495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E8EBF0"/>
                </a:solidFill>
                <a:latin typeface="Segoe UI"/>
              </a:rPr>
              <a:t>Ключевая ценность решения — доказать, что сопоставление кадров с графиком работ автоматизируется, а предупреждения об отклонениях можно объяснить.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4D92F8"/>
                </a:solidFill>
                <a:latin typeface="Segoe UI"/>
              </a:rPr>
              <a:t>РЕШЕНИЕ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1087495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E8EBF0"/>
                </a:solidFill>
                <a:latin typeface="Segoe UI"/>
              </a:rPr>
              <a:t>Концепция: три потока и один вывод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755648"/>
            <a:ext cx="3063240" cy="1371600"/>
          </a:xfrm>
          <a:prstGeom prst="roundRect">
            <a:avLst>
              <a:gd name="adj" fmla="val 4500"/>
            </a:avLst>
          </a:prstGeom>
          <a:solidFill>
            <a:srgbClr val="141A24"/>
          </a:solidFill>
          <a:ln w="12700">
            <a:solidFill>
              <a:srgbClr val="26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1956816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E8EBF0"/>
                </a:solidFill>
                <a:latin typeface="Segoe UI"/>
              </a:rPr>
              <a:t>Кадры с камер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395728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96A1B2"/>
                </a:solidFill>
                <a:latin typeface="Segoe UI"/>
              </a:rPr>
              <a:t>JPG, PNG, WebP, BMP.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96A1B2"/>
                </a:solidFill>
                <a:latin typeface="Segoe UI"/>
              </a:rPr>
              <a:t>У каждого кадра — дата съёмки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721608" y="2441448"/>
            <a:ext cx="685800" cy="1645920"/>
          </a:xfrm>
          <a:prstGeom prst="line">
            <a:avLst/>
          </a:prstGeom>
          <a:ln w="22225">
            <a:solidFill>
              <a:srgbClr val="4D92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58368" y="3383280"/>
            <a:ext cx="3063240" cy="1371600"/>
          </a:xfrm>
          <a:prstGeom prst="roundRect">
            <a:avLst>
              <a:gd name="adj" fmla="val 4500"/>
            </a:avLst>
          </a:prstGeom>
          <a:solidFill>
            <a:srgbClr val="141A24"/>
          </a:solidFill>
          <a:ln w="12700">
            <a:solidFill>
              <a:srgbClr val="26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96112" y="3584448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E8EBF0"/>
                </a:solidFill>
                <a:latin typeface="Segoe UI"/>
              </a:rPr>
              <a:t>Календарный план СМР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4023360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96A1B2"/>
                </a:solidFill>
                <a:latin typeface="Segoe UI"/>
              </a:rPr>
              <a:t>CSV или Excel: этап,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96A1B2"/>
                </a:solidFill>
                <a:latin typeface="Segoe UI"/>
              </a:rPr>
              <a:t>даты, зона работ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721608" y="4069080"/>
            <a:ext cx="685800" cy="18288"/>
          </a:xfrm>
          <a:prstGeom prst="line">
            <a:avLst/>
          </a:prstGeom>
          <a:ln w="22225">
            <a:solidFill>
              <a:srgbClr val="4D92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58368" y="5010912"/>
            <a:ext cx="3063240" cy="1371600"/>
          </a:xfrm>
          <a:prstGeom prst="roundRect">
            <a:avLst>
              <a:gd name="adj" fmla="val 4500"/>
            </a:avLst>
          </a:prstGeom>
          <a:solidFill>
            <a:srgbClr val="141A24"/>
          </a:solidFill>
          <a:ln w="12700">
            <a:solidFill>
              <a:srgbClr val="26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96112" y="5212080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E8EBF0"/>
                </a:solidFill>
                <a:latin typeface="Segoe UI"/>
              </a:rPr>
              <a:t>Методика и справочник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5650992"/>
            <a:ext cx="2606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96A1B2"/>
                </a:solidFill>
                <a:latin typeface="Segoe UI"/>
              </a:rPr>
              <a:t>12 классов техники,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96A1B2"/>
                </a:solidFill>
                <a:latin typeface="Segoe UI"/>
              </a:rPr>
              <a:t>правила «этап → техника»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3721608" y="4087368"/>
            <a:ext cx="685800" cy="1609344"/>
          </a:xfrm>
          <a:prstGeom prst="line">
            <a:avLst/>
          </a:prstGeom>
          <a:ln w="22225">
            <a:solidFill>
              <a:srgbClr val="4D92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407408" y="3081528"/>
            <a:ext cx="3200400" cy="2011680"/>
          </a:xfrm>
          <a:prstGeom prst="roundRect">
            <a:avLst>
              <a:gd name="adj" fmla="val 4500"/>
            </a:avLst>
          </a:prstGeom>
          <a:solidFill>
            <a:srgbClr val="141A24"/>
          </a:solidFill>
          <a:ln w="12700">
            <a:solidFill>
              <a:srgbClr val="4D9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681728" y="329184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>
                <a:solidFill>
                  <a:srgbClr val="4D92F8"/>
                </a:solidFill>
                <a:latin typeface="Segoe UI"/>
              </a:rPr>
              <a:t>Ядро анализа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1728" y="3767328"/>
            <a:ext cx="26517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96A1B2"/>
                </a:solidFill>
                <a:latin typeface="Segoe UI"/>
              </a:rPr>
              <a:t>Детекция техники, агрегация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96A1B2"/>
                </a:solidFill>
                <a:latin typeface="Segoe UI"/>
              </a:rPr>
              <a:t>за сутки, сопоставление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96A1B2"/>
                </a:solidFill>
                <a:latin typeface="Segoe UI"/>
              </a:rPr>
              <a:t>с плановым этапом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607808" y="4087368"/>
            <a:ext cx="685800" cy="0"/>
          </a:xfrm>
          <a:prstGeom prst="line">
            <a:avLst/>
          </a:prstGeom>
          <a:ln w="22225">
            <a:solidFill>
              <a:srgbClr val="4D92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293608" y="1755648"/>
            <a:ext cx="3239719" cy="1371600"/>
          </a:xfrm>
          <a:prstGeom prst="roundRect">
            <a:avLst>
              <a:gd name="adj" fmla="val 4500"/>
            </a:avLst>
          </a:prstGeom>
          <a:solidFill>
            <a:srgbClr val="141A24"/>
          </a:solidFill>
          <a:ln w="12700"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531352" y="1956816"/>
            <a:ext cx="278251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E8EBF0"/>
                </a:solidFill>
                <a:latin typeface="Segoe UI"/>
              </a:rPr>
              <a:t>Статус объекта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31352" y="2395728"/>
            <a:ext cx="278251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96A1B2"/>
                </a:solidFill>
                <a:latin typeface="Segoe UI"/>
              </a:rPr>
              <a:t>Простой, возможное нарушение,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96A1B2"/>
                </a:solidFill>
                <a:latin typeface="Segoe UI"/>
              </a:rPr>
              <a:t>смена стадии, норма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93608" y="3383280"/>
            <a:ext cx="3239719" cy="1371600"/>
          </a:xfrm>
          <a:prstGeom prst="roundRect">
            <a:avLst>
              <a:gd name="adj" fmla="val 4500"/>
            </a:avLst>
          </a:prstGeom>
          <a:solidFill>
            <a:srgbClr val="141A24"/>
          </a:solidFill>
          <a:ln w="12700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531352" y="3584448"/>
            <a:ext cx="278251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E8EBF0"/>
                </a:solidFill>
                <a:latin typeface="Segoe UI"/>
              </a:rPr>
              <a:t>Предупреждение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31352" y="4023360"/>
            <a:ext cx="278251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96A1B2"/>
                </a:solidFill>
                <a:latin typeface="Segoe UI"/>
              </a:rPr>
              <a:t>Формулировка, зона работ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96A1B2"/>
                </a:solidFill>
                <a:latin typeface="Segoe UI"/>
              </a:rPr>
              <a:t>и снимки-подтверждения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3608" y="5010912"/>
            <a:ext cx="3239719" cy="1371600"/>
          </a:xfrm>
          <a:prstGeom prst="roundRect">
            <a:avLst>
              <a:gd name="adj" fmla="val 4500"/>
            </a:avLst>
          </a:prstGeom>
          <a:solidFill>
            <a:srgbClr val="141A24"/>
          </a:solidFill>
          <a:ln w="12700">
            <a:solidFill>
              <a:srgbClr val="3F9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531352" y="5212080"/>
            <a:ext cx="278251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1">
                <a:solidFill>
                  <a:srgbClr val="E8EBF0"/>
                </a:solidFill>
                <a:latin typeface="Segoe UI"/>
              </a:rPr>
              <a:t>Таймлайн план / факт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31352" y="5650992"/>
            <a:ext cx="278251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96A1B2"/>
                </a:solidFill>
                <a:latin typeface="Segoe UI"/>
              </a:rPr>
              <a:t>История по дням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96A1B2"/>
                </a:solidFill>
                <a:latin typeface="Segoe UI"/>
              </a:rPr>
              <a:t>с переходом к кадру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4D92F8"/>
                </a:solidFill>
                <a:latin typeface="Segoe UI"/>
              </a:rPr>
              <a:t>АРХИТЕКТУРА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1087495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E8EBF0"/>
                </a:solidFill>
                <a:latin typeface="Segoe UI"/>
              </a:rPr>
              <a:t>Архитектура и взаимодействие компонентов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755648"/>
            <a:ext cx="2540431" cy="2148840"/>
          </a:xfrm>
          <a:prstGeom prst="roundRect">
            <a:avLst>
              <a:gd name="adj" fmla="val 4500"/>
            </a:avLst>
          </a:prstGeom>
          <a:solidFill>
            <a:srgbClr val="141A24"/>
          </a:solidFill>
          <a:ln w="12700">
            <a:solidFill>
              <a:srgbClr val="26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77824" y="1956816"/>
            <a:ext cx="210151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E8EBF0"/>
                </a:solidFill>
                <a:latin typeface="Segoe UI"/>
              </a:rP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414016"/>
            <a:ext cx="210151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4D92F8"/>
                </a:solidFill>
                <a:latin typeface="Segoe UI"/>
              </a:rPr>
              <a:t>React 18 + Vite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4D92F8"/>
                </a:solidFill>
                <a:latin typeface="Segoe UI"/>
              </a:rPr>
              <a:t>Leaflet для карты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3081528"/>
            <a:ext cx="210151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96A1B2"/>
                </a:solidFill>
                <a:latin typeface="Segoe UI"/>
              </a:rPr>
              <a:t>Дашборд города, карточка объекта,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96A1B2"/>
                </a:solidFill>
                <a:latin typeface="Segoe UI"/>
              </a:rPr>
              <a:t>снимок с рамками, разбор площадки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98799" y="2830068"/>
            <a:ext cx="237744" cy="0"/>
          </a:xfrm>
          <a:prstGeom prst="line">
            <a:avLst/>
          </a:prstGeom>
          <a:ln w="22225">
            <a:solidFill>
              <a:srgbClr val="4D92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36543" y="1755648"/>
            <a:ext cx="2540431" cy="2148840"/>
          </a:xfrm>
          <a:prstGeom prst="roundRect">
            <a:avLst>
              <a:gd name="adj" fmla="val 4500"/>
            </a:avLst>
          </a:prstGeom>
          <a:solidFill>
            <a:srgbClr val="141A24"/>
          </a:solidFill>
          <a:ln w="12700">
            <a:solidFill>
              <a:srgbClr val="26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655999" y="1956816"/>
            <a:ext cx="210151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E8EBF0"/>
                </a:solidFill>
                <a:latin typeface="Segoe UI"/>
              </a:rPr>
              <a:t>Backend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5999" y="2414016"/>
            <a:ext cx="210151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4D92F8"/>
                </a:solidFill>
                <a:latin typeface="Segoe UI"/>
              </a:rPr>
              <a:t>FastAPI + Pydantic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4D92F8"/>
                </a:solidFill>
                <a:latin typeface="Segoe UI"/>
              </a:rPr>
              <a:t>14 эндпоинтов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5999" y="3081528"/>
            <a:ext cx="210151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96A1B2"/>
                </a:solidFill>
                <a:latin typeface="Segoe UI"/>
              </a:rPr>
              <a:t>Приём файлов, валидация, отдача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96A1B2"/>
                </a:solidFill>
                <a:latin typeface="Segoe UI"/>
              </a:rPr>
              <a:t>сводок и таймлайнов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76974" y="2830068"/>
            <a:ext cx="237744" cy="0"/>
          </a:xfrm>
          <a:prstGeom prst="line">
            <a:avLst/>
          </a:prstGeom>
          <a:ln w="22225">
            <a:solidFill>
              <a:srgbClr val="4D92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214718" y="1755648"/>
            <a:ext cx="2540431" cy="2148840"/>
          </a:xfrm>
          <a:prstGeom prst="roundRect">
            <a:avLst>
              <a:gd name="adj" fmla="val 4500"/>
            </a:avLst>
          </a:prstGeom>
          <a:solidFill>
            <a:srgbClr val="141A24"/>
          </a:solidFill>
          <a:ln w="12700">
            <a:solidFill>
              <a:srgbClr val="4D9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434174" y="1956816"/>
            <a:ext cx="210151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E8EBF0"/>
                </a:solidFill>
                <a:latin typeface="Segoe UI"/>
              </a:rPr>
              <a:t>Домен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4174" y="2414016"/>
            <a:ext cx="210151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4D92F8"/>
                </a:solidFill>
                <a:latin typeface="Segoe UI"/>
              </a:rPr>
              <a:t>Чистый Python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4D92F8"/>
                </a:solidFill>
                <a:latin typeface="Segoe UI"/>
              </a:rPr>
              <a:t>без зависимостей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4174" y="3081528"/>
            <a:ext cx="210151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96A1B2"/>
                </a:solidFill>
                <a:latin typeface="Segoe UI"/>
              </a:rPr>
              <a:t>Методика «этап → техника»,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96A1B2"/>
                </a:solidFill>
                <a:latin typeface="Segoe UI"/>
              </a:rPr>
              <a:t>отклонения, статусы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755149" y="2830068"/>
            <a:ext cx="237744" cy="0"/>
          </a:xfrm>
          <a:prstGeom prst="line">
            <a:avLst/>
          </a:prstGeom>
          <a:ln w="22225">
            <a:solidFill>
              <a:srgbClr val="4D92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992893" y="1755648"/>
            <a:ext cx="2540431" cy="2148840"/>
          </a:xfrm>
          <a:prstGeom prst="roundRect">
            <a:avLst>
              <a:gd name="adj" fmla="val 4500"/>
            </a:avLst>
          </a:prstGeom>
          <a:solidFill>
            <a:srgbClr val="141A24"/>
          </a:solidFill>
          <a:ln w="12700">
            <a:solidFill>
              <a:srgbClr val="26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212349" y="1956816"/>
            <a:ext cx="210151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E8EBF0"/>
                </a:solidFill>
                <a:latin typeface="Segoe UI"/>
              </a:rPr>
              <a:t>ML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2349" y="2414016"/>
            <a:ext cx="2101519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4D92F8"/>
                </a:solidFill>
                <a:latin typeface="Segoe UI"/>
              </a:rPr>
              <a:t>Ultralytics YOLOv8m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4D92F8"/>
                </a:solidFill>
                <a:latin typeface="Segoe UI"/>
              </a:rPr>
              <a:t>OpenCV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2349" y="3081528"/>
            <a:ext cx="210151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96A1B2"/>
                </a:solidFill>
                <a:latin typeface="Segoe UI"/>
              </a:rPr>
              <a:t>Детекция 12 классов техники,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96A1B2"/>
                </a:solidFill>
                <a:latin typeface="Segoe UI"/>
              </a:rPr>
              <a:t>пороги по классу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270248"/>
            <a:ext cx="10874959" cy="1325880"/>
          </a:xfrm>
          <a:prstGeom prst="roundRect">
            <a:avLst>
              <a:gd name="adj" fmla="val 4500"/>
            </a:avLst>
          </a:prstGeom>
          <a:solidFill>
            <a:srgbClr val="141A24"/>
          </a:solidFill>
          <a:ln w="12700">
            <a:solidFill>
              <a:srgbClr val="26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4480560"/>
            <a:ext cx="1032631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8EBF0"/>
                </a:solidFill>
                <a:latin typeface="Segoe UI"/>
              </a:rPr>
              <a:t>Хранилище: data/store.json — объекты, планы, снимки и детекции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4882896"/>
            <a:ext cx="1032631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96A1B2"/>
                </a:solidFill>
                <a:latin typeface="Segoe UI"/>
              </a:rPr>
              <a:t>Отчёты за день не хранятся, а пересчитываются из плана и снимков при каждом запросе — правка методики сразу меняет выводы по всей истории. Домен не знает ни про HTTP, ни про модель: он принимает словарь «класс → количество», поэтому методика тестируется без GPU и без весов.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4D92F8"/>
                </a:solidFill>
                <a:latin typeface="Segoe UI"/>
              </a:rPr>
              <a:t>ОБОСНОВАНИЕ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1087495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E8EBF0"/>
                </a:solidFill>
                <a:latin typeface="Segoe UI"/>
              </a:rPr>
              <a:t>Почему именно этот стек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755648"/>
          <a:ext cx="10874959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4986"/>
                <a:gridCol w="3624986"/>
                <a:gridCol w="3624987"/>
              </a:tblGrid>
              <a:tr h="38404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E8EBF0"/>
                          </a:solidFill>
                          <a:latin typeface="Segoe UI"/>
                        </a:rPr>
                        <a:t>Выбор</a:t>
                      </a:r>
                    </a:p>
                  </a:txBody>
                  <a:tcPr anchor="ctr">
                    <a:solidFill>
                      <a:srgbClr val="1C25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E8EBF0"/>
                          </a:solidFill>
                          <a:latin typeface="Segoe UI"/>
                        </a:rPr>
                        <a:t>Причина</a:t>
                      </a:r>
                    </a:p>
                  </a:txBody>
                  <a:tcPr anchor="ctr">
                    <a:solidFill>
                      <a:srgbClr val="1C25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E8EBF0"/>
                          </a:solidFill>
                          <a:latin typeface="Segoe UI"/>
                        </a:rPr>
                        <a:t>Альтернатива и почему отказались</a:t>
                      </a:r>
                    </a:p>
                  </a:txBody>
                  <a:tcPr anchor="ctr">
                    <a:solidFill>
                      <a:srgbClr val="1C25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E8EBF0"/>
                          </a:solidFill>
                          <a:latin typeface="Segoe UI"/>
                        </a:rPr>
                        <a:t>YOLOv8m</a:t>
                      </a:r>
                    </a:p>
                  </a:txBody>
                  <a:tcPr anchor="ctr"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6A1B2"/>
                          </a:solidFill>
                          <a:latin typeface="Segoe UI"/>
                        </a:rPr>
                        <a:t>Один прогон на кадр, готовый пайплайн дообучения, работает на CPU</a:t>
                      </a:r>
                    </a:p>
                  </a:txBody>
                  <a:tcPr anchor="ctr"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6A1B2"/>
                          </a:solidFill>
                          <a:latin typeface="Segoe UI"/>
                        </a:rPr>
                        <a:t>Detectron2 точнее на мелких объектах, но тяжелее в развёртывании</a:t>
                      </a:r>
                    </a:p>
                  </a:txBody>
                  <a:tcPr anchor="ctr">
                    <a:solidFill>
                      <a:srgbClr val="141A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E8EBF0"/>
                          </a:solidFill>
                          <a:latin typeface="Segoe UI"/>
                        </a:rPr>
                        <a:t>Дообучение, не zero-shot</a:t>
                      </a:r>
                    </a:p>
                  </a:txBody>
                  <a:tcPr anchor="ctr"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6A1B2"/>
                          </a:solidFill>
                          <a:latin typeface="Segoe UI"/>
                        </a:rPr>
                        <a:t>Строительная техника в COCO отсутствует как классы</a:t>
                      </a:r>
                    </a:p>
                  </a:txBody>
                  <a:tcPr anchor="ctr"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6A1B2"/>
                          </a:solidFill>
                          <a:latin typeface="Segoe UI"/>
                        </a:rPr>
                        <a:t>Промпт-детекторы дают нестабильные имена классов</a:t>
                      </a:r>
                    </a:p>
                  </a:txBody>
                  <a:tcPr anchor="ctr">
                    <a:solidFill>
                      <a:srgbClr val="141A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E8EBF0"/>
                          </a:solidFill>
                          <a:latin typeface="Segoe UI"/>
                        </a:rPr>
                        <a:t>FastAPI</a:t>
                      </a:r>
                    </a:p>
                  </a:txBody>
                  <a:tcPr anchor="ctr"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6A1B2"/>
                          </a:solidFill>
                          <a:latin typeface="Segoe UI"/>
                        </a:rPr>
                        <a:t>Асинхронная загрузка файлов и автодокументация OpenAPI из коробки</a:t>
                      </a:r>
                    </a:p>
                  </a:txBody>
                  <a:tcPr anchor="ctr"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6A1B2"/>
                          </a:solidFill>
                          <a:latin typeface="Segoe UI"/>
                        </a:rPr>
                        <a:t>Flask потребовал бы ручных схем и валидации</a:t>
                      </a:r>
                    </a:p>
                  </a:txBody>
                  <a:tcPr anchor="ctr">
                    <a:solidFill>
                      <a:srgbClr val="141A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E8EBF0"/>
                          </a:solidFill>
                          <a:latin typeface="Segoe UI"/>
                        </a:rPr>
                        <a:t>React + Vite</a:t>
                      </a:r>
                    </a:p>
                  </a:txBody>
                  <a:tcPr anchor="ctr"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6A1B2"/>
                          </a:solidFill>
                          <a:latin typeface="Segoe UI"/>
                        </a:rPr>
                        <a:t>Нужен интерактив: карта, оверлеи рамок, таймлайн</a:t>
                      </a:r>
                    </a:p>
                  </a:txBody>
                  <a:tcPr anchor="ctr"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6A1B2"/>
                          </a:solidFill>
                          <a:latin typeface="Segoe UI"/>
                        </a:rPr>
                        <a:t>Streamlit быстрее, но не даёт нужной плотности интерфейса</a:t>
                      </a:r>
                    </a:p>
                  </a:txBody>
                  <a:tcPr anchor="ctr">
                    <a:solidFill>
                      <a:srgbClr val="141A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E8EBF0"/>
                          </a:solidFill>
                          <a:latin typeface="Segoe UI"/>
                        </a:rPr>
                        <a:t>JSON-хранилище</a:t>
                      </a:r>
                    </a:p>
                  </a:txBody>
                  <a:tcPr anchor="ctr"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6A1B2"/>
                          </a:solidFill>
                          <a:latin typeface="Segoe UI"/>
                        </a:rPr>
                        <a:t>Прототип запускается одной командой, без СУБД и миграций</a:t>
                      </a:r>
                    </a:p>
                  </a:txBody>
                  <a:tcPr anchor="ctr"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6A1B2"/>
                          </a:solidFill>
                          <a:latin typeface="Segoe UI"/>
                        </a:rPr>
                        <a:t>PostgreSQL — следующий шаг, изолирован в одном модуле</a:t>
                      </a:r>
                    </a:p>
                  </a:txBody>
                  <a:tcPr anchor="ctr">
                    <a:solidFill>
                      <a:srgbClr val="141A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E8EBF0"/>
                          </a:solidFill>
                          <a:latin typeface="Segoe UI"/>
                        </a:rPr>
                        <a:t>Порог на класс</a:t>
                      </a:r>
                    </a:p>
                  </a:txBody>
                  <a:tcPr anchor="ctr"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6A1B2"/>
                          </a:solidFill>
                          <a:latin typeface="Segoe UI"/>
                        </a:rPr>
                        <a:t>Башенный кран и грузовик распознаются хуже — им нужен мягкий порог</a:t>
                      </a:r>
                    </a:p>
                  </a:txBody>
                  <a:tcPr anchor="ctr"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6A1B2"/>
                          </a:solidFill>
                          <a:latin typeface="Segoe UI"/>
                        </a:rPr>
                        <a:t>Единый порог терял слабые классы целиком</a:t>
                      </a:r>
                    </a:p>
                  </a:txBody>
                  <a:tcPr anchor="ctr">
                    <a:solidFill>
                      <a:srgbClr val="141A2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4D92F8"/>
                </a:solidFill>
                <a:latin typeface="Segoe UI"/>
              </a:rPr>
              <a:t>СХЕМА СОПОСТАВЛЕНИЯ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1087495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E8EBF0"/>
                </a:solidFill>
                <a:latin typeface="Segoe UI"/>
              </a:rPr>
              <a:t>Как снимок связывается с этапом графика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755648"/>
            <a:ext cx="1682953" cy="1874519"/>
          </a:xfrm>
          <a:prstGeom prst="roundRect">
            <a:avLst>
              <a:gd name="adj" fmla="val 4500"/>
            </a:avLst>
          </a:prstGeom>
          <a:solidFill>
            <a:srgbClr val="141A24"/>
          </a:solidFill>
          <a:ln w="12700">
            <a:solidFill>
              <a:srgbClr val="26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41248" y="1920240"/>
            <a:ext cx="131719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4D92F8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286000"/>
            <a:ext cx="1317193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8EBF0"/>
                </a:solidFill>
                <a:latin typeface="Segoe UI"/>
              </a:rPr>
              <a:t>Кадр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715768"/>
            <a:ext cx="1317193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>
                <a:solidFill>
                  <a:srgbClr val="96A1B2"/>
                </a:solidFill>
                <a:latin typeface="Segoe UI"/>
              </a:rPr>
              <a:t>Дата съёмки —</a:t>
            </a:r>
          </a:p>
          <a:p>
            <a:pPr algn="l">
              <a:lnSpc>
                <a:spcPct val="122000"/>
              </a:lnSpc>
            </a:pPr>
            <a:r>
              <a:rPr sz="1050" b="0">
                <a:solidFill>
                  <a:srgbClr val="96A1B2"/>
                </a:solidFill>
                <a:latin typeface="Segoe UI"/>
              </a:rPr>
              <a:t>ключ связи с планом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96769" y="1755648"/>
            <a:ext cx="1682953" cy="1874519"/>
          </a:xfrm>
          <a:prstGeom prst="roundRect">
            <a:avLst>
              <a:gd name="adj" fmla="val 4500"/>
            </a:avLst>
          </a:prstGeom>
          <a:solidFill>
            <a:srgbClr val="141A24"/>
          </a:solidFill>
          <a:ln w="12700">
            <a:solidFill>
              <a:srgbClr val="4D9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2679649" y="1920240"/>
            <a:ext cx="131719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4D92F8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79649" y="2286000"/>
            <a:ext cx="1317193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8EBF0"/>
                </a:solidFill>
                <a:latin typeface="Segoe UI"/>
              </a:rPr>
              <a:t>Детекция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9649" y="2715768"/>
            <a:ext cx="1317193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>
                <a:solidFill>
                  <a:srgbClr val="96A1B2"/>
                </a:solidFill>
                <a:latin typeface="Segoe UI"/>
              </a:rPr>
              <a:t>YOLO с порогом 0,05:</a:t>
            </a:r>
          </a:p>
          <a:p>
            <a:pPr algn="l">
              <a:lnSpc>
                <a:spcPct val="122000"/>
              </a:lnSpc>
            </a:pPr>
            <a:r>
              <a:rPr sz="1050" b="0">
                <a:solidFill>
                  <a:srgbClr val="96A1B2"/>
                </a:solidFill>
                <a:latin typeface="Segoe UI"/>
              </a:rPr>
              <a:t>не терять слабые объекты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5170" y="1755648"/>
            <a:ext cx="1682953" cy="1874519"/>
          </a:xfrm>
          <a:prstGeom prst="roundRect">
            <a:avLst>
              <a:gd name="adj" fmla="val 4500"/>
            </a:avLst>
          </a:prstGeom>
          <a:solidFill>
            <a:srgbClr val="141A24"/>
          </a:solidFill>
          <a:ln w="12700">
            <a:solidFill>
              <a:srgbClr val="26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518050" y="1920240"/>
            <a:ext cx="131719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4D92F8"/>
                </a:solidFill>
                <a:latin typeface="Sego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8050" y="2286000"/>
            <a:ext cx="1317193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8EBF0"/>
                </a:solidFill>
                <a:latin typeface="Segoe UI"/>
              </a:rPr>
              <a:t>Фильтр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8050" y="2715768"/>
            <a:ext cx="1317193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>
                <a:solidFill>
                  <a:srgbClr val="96A1B2"/>
                </a:solidFill>
                <a:latin typeface="Segoe UI"/>
              </a:rPr>
              <a:t>Свой порог уверенности</a:t>
            </a:r>
          </a:p>
          <a:p>
            <a:pPr algn="l">
              <a:lnSpc>
                <a:spcPct val="122000"/>
              </a:lnSpc>
            </a:pPr>
            <a:r>
              <a:rPr sz="1050" b="0">
                <a:solidFill>
                  <a:srgbClr val="96A1B2"/>
                </a:solidFill>
                <a:latin typeface="Segoe UI"/>
              </a:rPr>
              <a:t>у каждого класса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3571" y="1755648"/>
            <a:ext cx="1682953" cy="1874519"/>
          </a:xfrm>
          <a:prstGeom prst="roundRect">
            <a:avLst>
              <a:gd name="adj" fmla="val 4500"/>
            </a:avLst>
          </a:prstGeom>
          <a:solidFill>
            <a:srgbClr val="141A24"/>
          </a:solidFill>
          <a:ln w="12700">
            <a:solidFill>
              <a:srgbClr val="26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356451" y="1920240"/>
            <a:ext cx="131719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4D92F8"/>
                </a:solidFill>
                <a:latin typeface="Sego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6451" y="2286000"/>
            <a:ext cx="1317193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8EBF0"/>
                </a:solidFill>
                <a:latin typeface="Segoe UI"/>
              </a:rPr>
              <a:t>Сутки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6451" y="2715768"/>
            <a:ext cx="1317193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>
                <a:solidFill>
                  <a:srgbClr val="96A1B2"/>
                </a:solidFill>
                <a:latin typeface="Segoe UI"/>
              </a:rPr>
              <a:t>Детекции всех кадров</a:t>
            </a:r>
          </a:p>
          <a:p>
            <a:pPr algn="l">
              <a:lnSpc>
                <a:spcPct val="122000"/>
              </a:lnSpc>
            </a:pPr>
            <a:r>
              <a:rPr sz="1050" b="0">
                <a:solidFill>
                  <a:srgbClr val="96A1B2"/>
                </a:solidFill>
                <a:latin typeface="Segoe UI"/>
              </a:rPr>
              <a:t>даты сводятся в счётчики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11972" y="1755648"/>
            <a:ext cx="1682953" cy="1874519"/>
          </a:xfrm>
          <a:prstGeom prst="roundRect">
            <a:avLst>
              <a:gd name="adj" fmla="val 4500"/>
            </a:avLst>
          </a:prstGeom>
          <a:solidFill>
            <a:srgbClr val="141A24"/>
          </a:solidFill>
          <a:ln w="12700">
            <a:solidFill>
              <a:srgbClr val="263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194852" y="1920240"/>
            <a:ext cx="131719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4D92F8"/>
                </a:solidFill>
                <a:latin typeface="Segoe U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94852" y="2286000"/>
            <a:ext cx="1317193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8EBF0"/>
                </a:solidFill>
                <a:latin typeface="Segoe UI"/>
              </a:rPr>
              <a:t>План на дату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4852" y="2715768"/>
            <a:ext cx="1317193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>
                <a:solidFill>
                  <a:srgbClr val="96A1B2"/>
                </a:solidFill>
                <a:latin typeface="Segoe UI"/>
              </a:rPr>
              <a:t>Какой этап должен идти</a:t>
            </a:r>
          </a:p>
          <a:p>
            <a:pPr algn="l">
              <a:lnSpc>
                <a:spcPct val="122000"/>
              </a:lnSpc>
            </a:pPr>
            <a:r>
              <a:rPr sz="1050" b="0">
                <a:solidFill>
                  <a:srgbClr val="96A1B2"/>
                </a:solidFill>
                <a:latin typeface="Segoe UI"/>
              </a:rPr>
              <a:t>и в какой зоне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50373" y="1755648"/>
            <a:ext cx="1682953" cy="1874519"/>
          </a:xfrm>
          <a:prstGeom prst="roundRect">
            <a:avLst>
              <a:gd name="adj" fmla="val 4500"/>
            </a:avLst>
          </a:prstGeom>
          <a:solidFill>
            <a:srgbClr val="141A24"/>
          </a:solidFill>
          <a:ln w="12700">
            <a:solidFill>
              <a:srgbClr val="4D9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0033253" y="1920240"/>
            <a:ext cx="1317193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4D92F8"/>
                </a:solidFill>
                <a:latin typeface="Segoe U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33253" y="2286000"/>
            <a:ext cx="1317193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E8EBF0"/>
                </a:solidFill>
                <a:latin typeface="Segoe UI"/>
              </a:rPr>
              <a:t>Вывод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33253" y="2715768"/>
            <a:ext cx="1317193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>
                <a:solidFill>
                  <a:srgbClr val="96A1B2"/>
                </a:solidFill>
                <a:latin typeface="Segoe UI"/>
              </a:rPr>
              <a:t>Маркер и звено:</a:t>
            </a:r>
          </a:p>
          <a:p>
            <a:pPr algn="l">
              <a:lnSpc>
                <a:spcPct val="122000"/>
              </a:lnSpc>
            </a:pPr>
            <a:r>
              <a:rPr sz="1050" b="0">
                <a:solidFill>
                  <a:srgbClr val="96A1B2"/>
                </a:solidFill>
                <a:latin typeface="Segoe UI"/>
              </a:rPr>
              <a:t>статус и отклонения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4041648"/>
            <a:ext cx="10874959" cy="1600200"/>
          </a:xfrm>
          <a:prstGeom prst="roundRect">
            <a:avLst>
              <a:gd name="adj" fmla="val 4500"/>
            </a:avLst>
          </a:prstGeom>
          <a:solidFill>
            <a:srgbClr val="141A24"/>
          </a:solidFill>
          <a:ln w="12700"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950976" y="4261104"/>
            <a:ext cx="10289743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E8EBF0"/>
                </a:solidFill>
                <a:latin typeface="Segoe UI"/>
              </a:rPr>
              <a:t>Пример из ТЗ: устройство котлована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6" y="4700016"/>
            <a:ext cx="10289743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96A1B2"/>
                </a:solidFill>
                <a:latin typeface="Segoe UI"/>
              </a:rPr>
              <a:t>По плану 10 марта идут земляные работы в зоне «Котлован А». На кадрах за этот день система видит экскаватор — маркер этапа на месте, работы действительно начались. Но самосвалов и грузовиков в кадре нет: звено вывоза грунта разорвано. Пользователь получает предупреждение о возможном снижении темпа работ с указанием зоны и ссылками на снимки-подтверждения.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4D92F8"/>
                </a:solidFill>
                <a:latin typeface="Segoe UI"/>
              </a:rPr>
              <a:t>ПРАВИЛА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1087495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E8EBF0"/>
                </a:solidFill>
                <a:latin typeface="Segoe UI"/>
              </a:rPr>
              <a:t>Методика «этап работ → необходимая техника»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45920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6A1B2"/>
                </a:solidFill>
                <a:latin typeface="Segoe UI"/>
              </a:rPr>
              <a:t>Маркер — машина, по которой этап опознаётся однозначно. Звено — набор машин, без которых работа физически не идёт: внутри группы достаточно любой машины, но все группы должны быть закрыты одновременно.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2532888"/>
          <a:ext cx="10874959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8739"/>
                <a:gridCol w="2718739"/>
                <a:gridCol w="2718739"/>
                <a:gridCol w="2718742"/>
              </a:tblGrid>
              <a:tr h="38404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E8EBF0"/>
                          </a:solidFill>
                          <a:latin typeface="Segoe UI"/>
                        </a:rPr>
                        <a:t>Этап СМР</a:t>
                      </a:r>
                    </a:p>
                  </a:txBody>
                  <a:tcPr anchor="ctr">
                    <a:solidFill>
                      <a:srgbClr val="1C25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E8EBF0"/>
                          </a:solidFill>
                          <a:latin typeface="Segoe UI"/>
                        </a:rPr>
                        <a:t>Маркерная техника</a:t>
                      </a:r>
                    </a:p>
                  </a:txBody>
                  <a:tcPr anchor="ctr">
                    <a:solidFill>
                      <a:srgbClr val="1C25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E8EBF0"/>
                          </a:solidFill>
                          <a:latin typeface="Segoe UI"/>
                        </a:rPr>
                        <a:t>Звено</a:t>
                      </a:r>
                    </a:p>
                  </a:txBody>
                  <a:tcPr anchor="ctr">
                    <a:solidFill>
                      <a:srgbClr val="1C25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E8EBF0"/>
                          </a:solidFill>
                          <a:latin typeface="Segoe UI"/>
                        </a:rPr>
                        <a:t>Отсутствует звено</a:t>
                      </a:r>
                    </a:p>
                  </a:txBody>
                  <a:tcPr anchor="ctr">
                    <a:solidFill>
                      <a:srgbClr val="1C25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E8EBF0"/>
                          </a:solidFill>
                          <a:latin typeface="Segoe UI"/>
                        </a:rPr>
                        <a:t>Земляные работы / котлован</a:t>
                      </a:r>
                    </a:p>
                  </a:txBody>
                  <a:tcPr anchor="ctr"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6A1B2"/>
                          </a:solidFill>
                          <a:latin typeface="Segoe UI"/>
                        </a:rPr>
                        <a:t>экскаватор, бульдозер</a:t>
                      </a:r>
                    </a:p>
                  </a:txBody>
                  <a:tcPr anchor="ctr"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6A1B2"/>
                          </a:solidFill>
                          <a:latin typeface="Segoe UI"/>
                        </a:rPr>
                        <a:t>самосвал или грузовик</a:t>
                      </a:r>
                    </a:p>
                  </a:txBody>
                  <a:tcPr anchor="ctr"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6A1B2"/>
                          </a:solidFill>
                          <a:latin typeface="Segoe UI"/>
                        </a:rPr>
                        <a:t>копать можно, вывозить нечем</a:t>
                      </a:r>
                    </a:p>
                  </a:txBody>
                  <a:tcPr anchor="ctr">
                    <a:solidFill>
                      <a:srgbClr val="141A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E8EBF0"/>
                          </a:solidFill>
                          <a:latin typeface="Segoe UI"/>
                        </a:rPr>
                        <a:t>Свайный фундамент</a:t>
                      </a:r>
                    </a:p>
                  </a:txBody>
                  <a:tcPr anchor="ctr"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6A1B2"/>
                          </a:solidFill>
                          <a:latin typeface="Segoe UI"/>
                        </a:rPr>
                        <a:t>сваебой</a:t>
                      </a:r>
                    </a:p>
                  </a:txBody>
                  <a:tcPr anchor="ctr"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6A1B2"/>
                          </a:solidFill>
                          <a:latin typeface="Segoe UI"/>
                        </a:rPr>
                        <a:t>автокран или кран-манипулятор</a:t>
                      </a:r>
                    </a:p>
                  </a:txBody>
                  <a:tcPr anchor="ctr"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6A1B2"/>
                          </a:solidFill>
                          <a:latin typeface="Segoe UI"/>
                        </a:rPr>
                        <a:t>сваи нечем подавать</a:t>
                      </a:r>
                    </a:p>
                  </a:txBody>
                  <a:tcPr anchor="ctr">
                    <a:solidFill>
                      <a:srgbClr val="141A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E8EBF0"/>
                          </a:solidFill>
                          <a:latin typeface="Segoe UI"/>
                        </a:rPr>
                        <a:t>Монолитные работы</a:t>
                      </a:r>
                    </a:p>
                  </a:txBody>
                  <a:tcPr anchor="ctr"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6A1B2"/>
                          </a:solidFill>
                          <a:latin typeface="Segoe UI"/>
                        </a:rPr>
                        <a:t>бетономешалка, бетононасос</a:t>
                      </a:r>
                    </a:p>
                  </a:txBody>
                  <a:tcPr anchor="ctr"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6A1B2"/>
                          </a:solidFill>
                          <a:latin typeface="Segoe UI"/>
                        </a:rPr>
                        <a:t>бетономешалка + бетононасос</a:t>
                      </a:r>
                    </a:p>
                  </a:txBody>
                  <a:tcPr anchor="ctr"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6A1B2"/>
                          </a:solidFill>
                          <a:latin typeface="Segoe UI"/>
                        </a:rPr>
                        <a:t>насос без смеси простаивает</a:t>
                      </a:r>
                    </a:p>
                  </a:txBody>
                  <a:tcPr anchor="ctr">
                    <a:solidFill>
                      <a:srgbClr val="141A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E8EBF0"/>
                          </a:solidFill>
                          <a:latin typeface="Segoe UI"/>
                        </a:rPr>
                        <a:t>Надземная часть / монтаж</a:t>
                      </a:r>
                    </a:p>
                  </a:txBody>
                  <a:tcPr anchor="ctr"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6A1B2"/>
                          </a:solidFill>
                          <a:latin typeface="Segoe UI"/>
                        </a:rPr>
                        <a:t>башенный кран, автокран, кран-манипулятор</a:t>
                      </a:r>
                    </a:p>
                  </a:txBody>
                  <a:tcPr anchor="ctr"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6A1B2"/>
                          </a:solidFill>
                          <a:latin typeface="Segoe UI"/>
                        </a:rPr>
                        <a:t>не требуется</a:t>
                      </a:r>
                    </a:p>
                  </a:txBody>
                  <a:tcPr anchor="ctr"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6A1B2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>
                    <a:solidFill>
                      <a:srgbClr val="141A2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" y="4544568"/>
            <a:ext cx="1087495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96A1B2"/>
                </a:solidFill>
                <a:latin typeface="Segoe UI"/>
              </a:rPr>
              <a:t>Погрузчик, самосвал, грузовик и каток объявлены вспомогательными: сами по себе они не открывают этап, иначе проехавший самосвал переводил бы площадку в «земляные работы».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4D92F8"/>
                </a:solidFill>
                <a:latin typeface="Segoe UI"/>
              </a:rPr>
              <a:t>ПРЕДУПРЕЖДЕНИЯ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1087495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E8EBF0"/>
                </a:solidFill>
                <a:latin typeface="Segoe UI"/>
              </a:rPr>
              <a:t>Отклонения, которые находит система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755648"/>
            <a:ext cx="3442106" cy="2286000"/>
          </a:xfrm>
          <a:prstGeom prst="roundRect">
            <a:avLst>
              <a:gd name="adj" fmla="val 4500"/>
            </a:avLst>
          </a:prstGeom>
          <a:solidFill>
            <a:srgbClr val="141A24"/>
          </a:solidFill>
          <a:ln w="12700">
            <a:solidFill>
              <a:srgbClr val="F4A2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14400" y="1993392"/>
            <a:ext cx="293004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E8EBF0"/>
                </a:solidFill>
                <a:latin typeface="Segoe UI"/>
              </a:rPr>
              <a:t>Нет необходимой техники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32888"/>
            <a:ext cx="2930042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96A1B2"/>
                </a:solidFill>
                <a:latin typeface="Segoe UI"/>
              </a:rPr>
              <a:t>По календарю этап идёт, маркерной техники на кадрах нет. Отставание или неявка подрядной техники.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96A1B2"/>
                </a:solidFill>
                <a:latin typeface="Segoe U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96A1B2"/>
                </a:solidFill>
                <a:latin typeface="Segoe UI"/>
              </a:rPr>
              <a:t>Критично · missing_required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4794" y="1755648"/>
            <a:ext cx="3442106" cy="2286000"/>
          </a:xfrm>
          <a:prstGeom prst="roundRect">
            <a:avLst>
              <a:gd name="adj" fmla="val 4500"/>
            </a:avLst>
          </a:prstGeom>
          <a:solidFill>
            <a:srgbClr val="141A24"/>
          </a:solidFill>
          <a:ln w="12700">
            <a:solidFill>
              <a:srgbClr val="E639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630826" y="1993392"/>
            <a:ext cx="293004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E8EBF0"/>
                </a:solidFill>
                <a:latin typeface="Segoe UI"/>
              </a:rPr>
              <a:t>Неполное звено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0826" y="2532888"/>
            <a:ext cx="2930042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96A1B2"/>
                </a:solidFill>
                <a:latin typeface="Segoe UI"/>
              </a:rPr>
              <a:t>Маркер есть, звено разорвано: экскаватор без самосвалов, бетононасос без миксера. Формально работа идёт, фактически — простой.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96A1B2"/>
                </a:solidFill>
                <a:latin typeface="Segoe U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96A1B2"/>
                </a:solidFill>
                <a:latin typeface="Segoe UI"/>
              </a:rPr>
              <a:t>Критично · incomplete_link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1220" y="1755648"/>
            <a:ext cx="3442106" cy="2286000"/>
          </a:xfrm>
          <a:prstGeom prst="roundRect">
            <a:avLst>
              <a:gd name="adj" fmla="val 4500"/>
            </a:avLst>
          </a:prstGeom>
          <a:solidFill>
            <a:srgbClr val="141A24"/>
          </a:solidFill>
          <a:ln w="12700">
            <a:solidFill>
              <a:srgbClr val="4D9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347252" y="1993392"/>
            <a:ext cx="293004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E8EBF0"/>
                </a:solidFill>
                <a:latin typeface="Segoe UI"/>
              </a:rPr>
              <a:t>Техника не под этап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7252" y="2532888"/>
            <a:ext cx="2930042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96A1B2"/>
                </a:solidFill>
                <a:latin typeface="Segoe UI"/>
              </a:rPr>
              <a:t>На кадре техника другого этапа. Не нарушение само по себе, но сигнал о смене стадии раньше или позже графика.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96A1B2"/>
                </a:solidFill>
                <a:latin typeface="Segoe U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96A1B2"/>
                </a:solidFill>
                <a:latin typeface="Segoe UI"/>
              </a:rPr>
              <a:t>Предупреждение · unexpected_equipment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361688"/>
            <a:ext cx="1087495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E8EBF0"/>
                </a:solidFill>
                <a:latin typeface="Segoe UI"/>
              </a:rPr>
              <a:t>Каждое отклонение несёт готовую формулировку, затронутую зону из плана и ссылки на снимки — предупреждение можно проверить, а не только прочитать.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4D92F8"/>
                </a:solidFill>
                <a:latin typeface="Segoe UI"/>
              </a:rPr>
              <a:t>МАШИННОЕ ОБУЧЕНИЕ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1087495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E8EBF0"/>
                </a:solidFill>
                <a:latin typeface="Segoe UI"/>
              </a:rPr>
              <a:t>Модель и качество распознавания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755648"/>
          <a:ext cx="10874959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37479"/>
                <a:gridCol w="5437480"/>
              </a:tblGrid>
              <a:tr h="38404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E8EBF0"/>
                          </a:solidFill>
                          <a:latin typeface="Segoe UI"/>
                        </a:rPr>
                        <a:t>Параметр</a:t>
                      </a:r>
                    </a:p>
                  </a:txBody>
                  <a:tcPr anchor="ctr">
                    <a:solidFill>
                      <a:srgbClr val="1C25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E8EBF0"/>
                          </a:solidFill>
                          <a:latin typeface="Segoe UI"/>
                        </a:rPr>
                        <a:t>Значение</a:t>
                      </a:r>
                    </a:p>
                  </a:txBody>
                  <a:tcPr anchor="ctr">
                    <a:solidFill>
                      <a:srgbClr val="1C25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E8EBF0"/>
                          </a:solidFill>
                          <a:latin typeface="Segoe UI"/>
                        </a:rPr>
                        <a:t>Архитектура</a:t>
                      </a:r>
                    </a:p>
                  </a:txBody>
                  <a:tcPr anchor="ctr"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6A1B2"/>
                          </a:solidFill>
                          <a:latin typeface="Segoe UI"/>
                        </a:rPr>
                        <a:t>YOLOv8m, дообучение из предобученных весов</a:t>
                      </a:r>
                    </a:p>
                  </a:txBody>
                  <a:tcPr anchor="ctr">
                    <a:solidFill>
                      <a:srgbClr val="141A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E8EBF0"/>
                          </a:solidFill>
                          <a:latin typeface="Segoe UI"/>
                        </a:rPr>
                        <a:t>Классов техники</a:t>
                      </a:r>
                    </a:p>
                  </a:txBody>
                  <a:tcPr anchor="ctr"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6A1B2"/>
                          </a:solidFill>
                          <a:latin typeface="Segoe UI"/>
                        </a:rPr>
                        <a:t>12 (перечень ТЗ покрыт полностью)</a:t>
                      </a:r>
                    </a:p>
                  </a:txBody>
                  <a:tcPr anchor="ctr">
                    <a:solidFill>
                      <a:srgbClr val="141A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E8EBF0"/>
                          </a:solidFill>
                          <a:latin typeface="Segoe UI"/>
                        </a:rPr>
                        <a:t>Разрешение / эпохи</a:t>
                      </a:r>
                    </a:p>
                  </a:txBody>
                  <a:tcPr anchor="ctr"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6A1B2"/>
                          </a:solidFill>
                          <a:latin typeface="Segoe UI"/>
                        </a:rPr>
                        <a:t>640 / 100</a:t>
                      </a:r>
                    </a:p>
                  </a:txBody>
                  <a:tcPr anchor="ctr">
                    <a:solidFill>
                      <a:srgbClr val="141A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E8EBF0"/>
                          </a:solidFill>
                          <a:latin typeface="Segoe UI"/>
                        </a:rPr>
                        <a:t>Precision / Recall</a:t>
                      </a:r>
                    </a:p>
                  </a:txBody>
                  <a:tcPr anchor="ctr"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6A1B2"/>
                          </a:solidFill>
                          <a:latin typeface="Segoe UI"/>
                        </a:rPr>
                        <a:t>0.821 / 0.832</a:t>
                      </a:r>
                    </a:p>
                  </a:txBody>
                  <a:tcPr anchor="ctr">
                    <a:solidFill>
                      <a:srgbClr val="141A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E8EBF0"/>
                          </a:solidFill>
                          <a:latin typeface="Segoe UI"/>
                        </a:rPr>
                        <a:t>mAP@50</a:t>
                      </a:r>
                    </a:p>
                  </a:txBody>
                  <a:tcPr anchor="ctr"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6A1B2"/>
                          </a:solidFill>
                          <a:latin typeface="Segoe UI"/>
                        </a:rPr>
                        <a:t>0.859</a:t>
                      </a:r>
                    </a:p>
                  </a:txBody>
                  <a:tcPr anchor="ctr">
                    <a:solidFill>
                      <a:srgbClr val="141A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E8EBF0"/>
                          </a:solidFill>
                          <a:latin typeface="Segoe UI"/>
                        </a:rPr>
                        <a:t>mAP@50-95</a:t>
                      </a:r>
                    </a:p>
                  </a:txBody>
                  <a:tcPr anchor="ctr"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6A1B2"/>
                          </a:solidFill>
                          <a:latin typeface="Segoe UI"/>
                        </a:rPr>
                        <a:t>0.651</a:t>
                      </a:r>
                    </a:p>
                  </a:txBody>
                  <a:tcPr anchor="ctr">
                    <a:solidFill>
                      <a:srgbClr val="141A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E8EBF0"/>
                          </a:solidFill>
                          <a:latin typeface="Segoe UI"/>
                        </a:rPr>
                        <a:t>Скорость на CPU</a:t>
                      </a:r>
                    </a:p>
                  </a:txBody>
                  <a:tcPr anchor="ctr"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6A1B2"/>
                          </a:solidFill>
                          <a:latin typeface="Segoe UI"/>
                        </a:rPr>
                        <a:t>медиана 0,52 с на кадр, 1,9 кадр/с</a:t>
                      </a:r>
                    </a:p>
                  </a:txBody>
                  <a:tcPr anchor="ctr">
                    <a:solidFill>
                      <a:srgbClr val="141A24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601968" y="1755648"/>
            <a:ext cx="4931359" cy="3108960"/>
          </a:xfrm>
          <a:prstGeom prst="roundRect">
            <a:avLst>
              <a:gd name="adj" fmla="val 4500"/>
            </a:avLst>
          </a:prstGeom>
          <a:solidFill>
            <a:srgbClr val="141A24"/>
          </a:solidFill>
          <a:ln w="12700">
            <a:solidFill>
              <a:srgbClr val="4D92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876288" y="1993392"/>
            <a:ext cx="438271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E8EBF0"/>
                </a:solidFill>
                <a:latin typeface="Segoe UI"/>
              </a:rPr>
              <a:t>Проверочный набор собран самостоятельно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76288" y="2468880"/>
            <a:ext cx="4382719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96A1B2"/>
                </a:solidFill>
                <a:latin typeface="Segoe UI"/>
              </a:rPr>
              <a:t>ТЗ не даёт отдельного набора для проверки, поэтому он формируется скриптом eval_model.py: 86 кадров раскладываются по условиям съёмки и прогоняются через модель.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96A1B2"/>
                </a:solidFill>
                <a:latin typeface="Segoe U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96A1B2"/>
                </a:solidFill>
                <a:latin typeface="Segoe UI"/>
              </a:rPr>
              <a:t>Освещённость: яркий день, пасмурно, сумерки и контраст.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96A1B2"/>
                </a:solidFill>
                <a:latin typeface="Segoe UI"/>
              </a:rPr>
              <a:t>Фон и сезон: зелёный сезон, снег и межсезонье, без зелени.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96A1B2"/>
                </a:solidFill>
                <a:latin typeface="Segoe UI"/>
              </a:rPr>
              <a:t>Задействовано 10 из 12 классов техники.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96A1B2"/>
                </a:solidFill>
                <a:latin typeface="Segoe U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96A1B2"/>
                </a:solidFill>
                <a:latin typeface="Segoe UI"/>
              </a:rPr>
              <a:t>Скорость измеряется в рантайме: /api/detect возвращает inference_ms, /api/demo/analyze — среднее и максимум по пачке кадров.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4D92F8"/>
                </a:solidFill>
                <a:latin typeface="Segoe UI"/>
              </a:rPr>
              <a:t>ДЕМОНСТРАЦИЯ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1087495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E8EBF0"/>
                </a:solidFill>
                <a:latin typeface="Segoe UI"/>
              </a:rPr>
              <a:t>Дашборд: что требует внимания в городе</a:t>
            </a:r>
          </a:p>
        </p:txBody>
      </p:sp>
      <p:pic>
        <p:nvPicPr>
          <p:cNvPr id="5" name="Picture 4" descr="дашборд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8887" y="1572768"/>
            <a:ext cx="7233920" cy="4069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5806440"/>
            <a:ext cx="1087495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0">
                <a:solidFill>
                  <a:srgbClr val="96A1B2"/>
                </a:solidFill>
                <a:latin typeface="Segoe UI"/>
              </a:rPr>
              <a:t>Кадр с камеры с рамками распознанной техники, вердикт по объекту, карта и список объектов с фильтром по статусу.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4D92F8"/>
                </a:solidFill>
                <a:latin typeface="Segoe UI"/>
              </a:rPr>
              <a:t>ДЕМОНСТРАЦИЯ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1087495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E8EBF0"/>
                </a:solidFill>
                <a:latin typeface="Segoe UI"/>
              </a:rPr>
              <a:t>Объект: план, факт и история по дням</a:t>
            </a:r>
          </a:p>
        </p:txBody>
      </p:sp>
      <p:pic>
        <p:nvPicPr>
          <p:cNvPr id="5" name="Picture 4" descr="объект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8887" y="1572768"/>
            <a:ext cx="7233920" cy="4069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5806440"/>
            <a:ext cx="1087495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0">
                <a:solidFill>
                  <a:srgbClr val="96A1B2"/>
                </a:solidFill>
                <a:latin typeface="Segoe UI"/>
              </a:rPr>
              <a:t>Карточка объекта: пояснение отклонения, загруженные снимки, календарный план и таймлайн с переходом к конкретному кадру.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4D92F8"/>
                </a:solidFill>
                <a:latin typeface="Segoe UI"/>
              </a:rPr>
              <a:t>ДЕМОНСТРАЦИЯ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1087495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E8EBF0"/>
                </a:solidFill>
                <a:latin typeface="Segoe UI"/>
              </a:rPr>
              <a:t>Методика доступна пользователю в интерфейсе</a:t>
            </a:r>
          </a:p>
        </p:txBody>
      </p:sp>
      <p:pic>
        <p:nvPicPr>
          <p:cNvPr id="5" name="Picture 4" descr="методика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8887" y="1572768"/>
            <a:ext cx="7233920" cy="4069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5806440"/>
            <a:ext cx="1087495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0">
                <a:solidFill>
                  <a:srgbClr val="96A1B2"/>
                </a:solidFill>
                <a:latin typeface="Segoe UI"/>
              </a:rPr>
              <a:t>Правила сопоставления, типы отклонений и пороги по классам показаны в приложении: жюри и заказчик видят, по какой логике вынесен вердикт.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4D92F8"/>
                </a:solidFill>
                <a:latin typeface="Segoe UI"/>
              </a:rPr>
              <a:t>ДОСТОВЕРНОСТЬ АНАЛИТИКИ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1087495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E8EBF0"/>
                </a:solidFill>
                <a:latin typeface="Segoe UI"/>
              </a:rPr>
              <a:t>Рекомендации по установке камер на площадках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664208"/>
            <a:ext cx="10874959" cy="464515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30000"/>
              </a:lnSpc>
              <a:spcAft>
                <a:spcPts val="1100"/>
              </a:spcAft>
            </a:pPr>
            <a:r>
              <a:rPr sz="1350">
                <a:solidFill>
                  <a:srgbClr val="4D92F8"/>
                </a:solidFill>
                <a:latin typeface="Segoe UI"/>
              </a:rPr>
              <a:t>— </a:t>
            </a:r>
            <a:r>
              <a:rPr sz="1350" b="1">
                <a:solidFill>
                  <a:srgbClr val="E8EBF0"/>
                </a:solidFill>
                <a:latin typeface="Segoe UI"/>
              </a:rPr>
              <a:t>Обзор всей рабочей зоны</a:t>
            </a:r>
            <a:r>
              <a:rPr sz="1350">
                <a:solidFill>
                  <a:srgbClr val="96A1B2"/>
                </a:solidFill>
                <a:latin typeface="Segoe UI"/>
              </a:rPr>
              <a:t> Камера ставится так, чтобы в кадр попадал весь фронт работ, а не отдельный угол. Техника вне кадра для системы равна отсутствию техники.</a:t>
            </a:r>
          </a:p>
          <a:p>
            <a:pPr>
              <a:lnSpc>
                <a:spcPct val="130000"/>
              </a:lnSpc>
              <a:spcAft>
                <a:spcPts val="1100"/>
              </a:spcAft>
            </a:pPr>
            <a:r>
              <a:rPr sz="1350">
                <a:solidFill>
                  <a:srgbClr val="4D92F8"/>
                </a:solidFill>
                <a:latin typeface="Segoe UI"/>
              </a:rPr>
              <a:t>— </a:t>
            </a:r>
            <a:r>
              <a:rPr sz="1350" b="1">
                <a:solidFill>
                  <a:srgbClr val="E8EBF0"/>
                </a:solidFill>
                <a:latin typeface="Segoe UI"/>
              </a:rPr>
              <a:t>Высота 6–12 метров, угол наклона 15–30°</a:t>
            </a:r>
            <a:r>
              <a:rPr sz="1350">
                <a:solidFill>
                  <a:srgbClr val="96A1B2"/>
                </a:solidFill>
                <a:latin typeface="Segoe UI"/>
              </a:rPr>
              <a:t> Снижает перекрытие машин друг другом и даёт силуэт целиком — именно по силуэту модель различает автокран, кран-манипулятор и башенный кран.</a:t>
            </a:r>
          </a:p>
          <a:p>
            <a:pPr>
              <a:lnSpc>
                <a:spcPct val="130000"/>
              </a:lnSpc>
              <a:spcAft>
                <a:spcPts val="1100"/>
              </a:spcAft>
            </a:pPr>
            <a:r>
              <a:rPr sz="1350">
                <a:solidFill>
                  <a:srgbClr val="4D92F8"/>
                </a:solidFill>
                <a:latin typeface="Segoe UI"/>
              </a:rPr>
              <a:t>— </a:t>
            </a:r>
            <a:r>
              <a:rPr sz="1350" b="1">
                <a:solidFill>
                  <a:srgbClr val="E8EBF0"/>
                </a:solidFill>
                <a:latin typeface="Segoe UI"/>
              </a:rPr>
              <a:t>Разрешение не ниже Full HD, техника — минимум 80 пикселей по длинной стороне</a:t>
            </a:r>
            <a:r>
              <a:rPr sz="1350">
                <a:solidFill>
                  <a:srgbClr val="96A1B2"/>
                </a:solidFill>
                <a:latin typeface="Segoe UI"/>
              </a:rPr>
              <a:t> При меньшем масштабе классы начинают путаться.</a:t>
            </a:r>
          </a:p>
          <a:p>
            <a:pPr>
              <a:lnSpc>
                <a:spcPct val="130000"/>
              </a:lnSpc>
              <a:spcAft>
                <a:spcPts val="1100"/>
              </a:spcAft>
            </a:pPr>
            <a:r>
              <a:rPr sz="1350">
                <a:solidFill>
                  <a:srgbClr val="4D92F8"/>
                </a:solidFill>
                <a:latin typeface="Segoe UI"/>
              </a:rPr>
              <a:t>— </a:t>
            </a:r>
            <a:r>
              <a:rPr sz="1350" b="1">
                <a:solidFill>
                  <a:srgbClr val="E8EBF0"/>
                </a:solidFill>
                <a:latin typeface="Segoe UI"/>
              </a:rPr>
              <a:t>Одна камера на одну зону плана</a:t>
            </a:r>
            <a:r>
              <a:rPr sz="1350">
                <a:solidFill>
                  <a:srgbClr val="96A1B2"/>
                </a:solidFill>
                <a:latin typeface="Segoe UI"/>
              </a:rPr>
              <a:t> Привязка отклонения к участку настолько точна, насколько зоны разделены физически.</a:t>
            </a:r>
          </a:p>
          <a:p>
            <a:pPr>
              <a:lnSpc>
                <a:spcPct val="130000"/>
              </a:lnSpc>
              <a:spcAft>
                <a:spcPts val="1100"/>
              </a:spcAft>
            </a:pPr>
            <a:r>
              <a:rPr sz="1350">
                <a:solidFill>
                  <a:srgbClr val="4D92F8"/>
                </a:solidFill>
                <a:latin typeface="Segoe UI"/>
              </a:rPr>
              <a:t>— </a:t>
            </a:r>
            <a:r>
              <a:rPr sz="1350" b="1">
                <a:solidFill>
                  <a:srgbClr val="E8EBF0"/>
                </a:solidFill>
                <a:latin typeface="Segoe UI"/>
              </a:rPr>
              <a:t>Съёмка по расписанию, 4–6 кадров за смену</a:t>
            </a:r>
            <a:r>
              <a:rPr sz="1350">
                <a:solidFill>
                  <a:srgbClr val="96A1B2"/>
                </a:solidFill>
                <a:latin typeface="Segoe UI"/>
              </a:rPr>
              <a:t> Единица анализа — сутки; несколько кадров страхуют от случайного момента, когда машина уехала.</a:t>
            </a:r>
          </a:p>
          <a:p>
            <a:pPr>
              <a:lnSpc>
                <a:spcPct val="130000"/>
              </a:lnSpc>
              <a:spcAft>
                <a:spcPts val="1100"/>
              </a:spcAft>
            </a:pPr>
            <a:r>
              <a:rPr sz="1350">
                <a:solidFill>
                  <a:srgbClr val="4D92F8"/>
                </a:solidFill>
                <a:latin typeface="Segoe UI"/>
              </a:rPr>
              <a:t>— </a:t>
            </a:r>
            <a:r>
              <a:rPr sz="1350" b="1">
                <a:solidFill>
                  <a:srgbClr val="E8EBF0"/>
                </a:solidFill>
                <a:latin typeface="Segoe UI"/>
              </a:rPr>
              <a:t>Точное время в метаданных и синхронизация NTP</a:t>
            </a:r>
            <a:r>
              <a:rPr sz="1350">
                <a:solidFill>
                  <a:srgbClr val="96A1B2"/>
                </a:solidFill>
                <a:latin typeface="Segoe UI"/>
              </a:rPr>
              <a:t> Дата съёмки — это ключ связи с календарным планом; сбитые часы ломают сопоставление.</a:t>
            </a:r>
          </a:p>
          <a:p>
            <a:pPr>
              <a:lnSpc>
                <a:spcPct val="130000"/>
              </a:lnSpc>
              <a:spcAft>
                <a:spcPts val="1100"/>
              </a:spcAft>
            </a:pPr>
            <a:r>
              <a:rPr sz="1350">
                <a:solidFill>
                  <a:srgbClr val="4D92F8"/>
                </a:solidFill>
                <a:latin typeface="Segoe UI"/>
              </a:rPr>
              <a:t>— </a:t>
            </a:r>
            <a:r>
              <a:rPr sz="1350" b="1">
                <a:solidFill>
                  <a:srgbClr val="E8EBF0"/>
                </a:solidFill>
                <a:latin typeface="Segoe UI"/>
              </a:rPr>
              <a:t>Стабильный ракурс и жёсткое крепление</a:t>
            </a:r>
            <a:r>
              <a:rPr sz="1350">
                <a:solidFill>
                  <a:srgbClr val="96A1B2"/>
                </a:solidFill>
                <a:latin typeface="Segoe UI"/>
              </a:rPr>
              <a:t> Смена ракурса обесценивает историю наблюдений по объекту.</a:t>
            </a:r>
          </a:p>
          <a:p>
            <a:pPr>
              <a:lnSpc>
                <a:spcPct val="130000"/>
              </a:lnSpc>
              <a:spcAft>
                <a:spcPts val="1100"/>
              </a:spcAft>
            </a:pPr>
            <a:r>
              <a:rPr sz="1350">
                <a:solidFill>
                  <a:srgbClr val="4D92F8"/>
                </a:solidFill>
                <a:latin typeface="Segoe UI"/>
              </a:rPr>
              <a:t>— </a:t>
            </a:r>
            <a:r>
              <a:rPr sz="1350" b="1">
                <a:solidFill>
                  <a:srgbClr val="E8EBF0"/>
                </a:solidFill>
                <a:latin typeface="Segoe UI"/>
              </a:rPr>
              <a:t>Контровой свет, очистка объектива, подсветка</a:t>
            </a:r>
            <a:r>
              <a:rPr sz="1350">
                <a:solidFill>
                  <a:srgbClr val="96A1B2"/>
                </a:solidFill>
                <a:latin typeface="Segoe UI"/>
              </a:rPr>
              <a:t> Солнце в объектив, пыль и наледь снижают полноту распознавания сильнее, чем сумерки.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4D92F8"/>
                </a:solidFill>
                <a:latin typeface="Segoe UI"/>
              </a:rPr>
              <a:t>ДАЛЬШЕ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1087495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E8EBF0"/>
                </a:solidFill>
                <a:latin typeface="Segoe UI"/>
              </a:rPr>
              <a:t>Масштабирование и развитие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755648"/>
          <a:ext cx="10874959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4986"/>
                <a:gridCol w="3624986"/>
                <a:gridCol w="3624987"/>
              </a:tblGrid>
              <a:tr h="38404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E8EBF0"/>
                          </a:solidFill>
                          <a:latin typeface="Segoe UI"/>
                        </a:rPr>
                        <a:t>Направление</a:t>
                      </a:r>
                    </a:p>
                  </a:txBody>
                  <a:tcPr anchor="ctr">
                    <a:solidFill>
                      <a:srgbClr val="1C25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E8EBF0"/>
                          </a:solidFill>
                          <a:latin typeface="Segoe UI"/>
                        </a:rPr>
                        <a:t>Что даёт</a:t>
                      </a:r>
                    </a:p>
                  </a:txBody>
                  <a:tcPr anchor="ctr">
                    <a:solidFill>
                      <a:srgbClr val="1C25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E8EBF0"/>
                          </a:solidFill>
                          <a:latin typeface="Segoe UI"/>
                        </a:rPr>
                        <a:t>Как реализуется</a:t>
                      </a:r>
                    </a:p>
                  </a:txBody>
                  <a:tcPr anchor="ctr">
                    <a:solidFill>
                      <a:srgbClr val="1C25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E8EBF0"/>
                          </a:solidFill>
                          <a:latin typeface="Segoe UI"/>
                        </a:rPr>
                        <a:t>Поток вместо загрузки</a:t>
                      </a:r>
                    </a:p>
                  </a:txBody>
                  <a:tcPr anchor="ctr"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6A1B2"/>
                          </a:solidFill>
                          <a:latin typeface="Segoe UI"/>
                        </a:rPr>
                        <a:t>Контроль в режиме, близком к реальному времени</a:t>
                      </a:r>
                    </a:p>
                  </a:txBody>
                  <a:tcPr anchor="ctr"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6A1B2"/>
                          </a:solidFill>
                          <a:latin typeface="Segoe UI"/>
                        </a:rPr>
                        <a:t>Приём кадров по RTSP и очередь задач вместо ручной загрузки</a:t>
                      </a:r>
                    </a:p>
                  </a:txBody>
                  <a:tcPr anchor="ctr">
                    <a:solidFill>
                      <a:srgbClr val="141A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E8EBF0"/>
                          </a:solidFill>
                          <a:latin typeface="Segoe UI"/>
                        </a:rPr>
                        <a:t>СУБД и история</a:t>
                      </a:r>
                    </a:p>
                  </a:txBody>
                  <a:tcPr anchor="ctr"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6A1B2"/>
                          </a:solidFill>
                          <a:latin typeface="Segoe UI"/>
                        </a:rPr>
                        <a:t>Десятки тысяч объектов, аналитика по округам и подрядчикам</a:t>
                      </a:r>
                    </a:p>
                  </a:txBody>
                  <a:tcPr anchor="ctr"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6A1B2"/>
                          </a:solidFill>
                          <a:latin typeface="Segoe UI"/>
                        </a:rPr>
                        <a:t>PostgreSQL, изолирован в backend/store.py</a:t>
                      </a:r>
                    </a:p>
                  </a:txBody>
                  <a:tcPr anchor="ctr">
                    <a:solidFill>
                      <a:srgbClr val="141A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E8EBF0"/>
                          </a:solidFill>
                          <a:latin typeface="Segoe UI"/>
                        </a:rPr>
                        <a:t>Трекинг техники</a:t>
                      </a:r>
                    </a:p>
                  </a:txBody>
                  <a:tcPr anchor="ctr"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6A1B2"/>
                          </a:solidFill>
                          <a:latin typeface="Segoe UI"/>
                        </a:rPr>
                        <a:t>Учёт машино-часов, а не только факта наличия</a:t>
                      </a:r>
                    </a:p>
                  </a:txBody>
                  <a:tcPr anchor="ctr"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6A1B2"/>
                          </a:solidFill>
                          <a:latin typeface="Segoe UI"/>
                        </a:rPr>
                        <a:t>ByteTrack поверх детекций, идентификация между кадрами</a:t>
                      </a:r>
                    </a:p>
                  </a:txBody>
                  <a:tcPr anchor="ctr">
                    <a:solidFill>
                      <a:srgbClr val="141A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E8EBF0"/>
                          </a:solidFill>
                          <a:latin typeface="Segoe UI"/>
                        </a:rPr>
                        <a:t>Новые этапы и классы</a:t>
                      </a:r>
                    </a:p>
                  </a:txBody>
                  <a:tcPr anchor="ctr"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6A1B2"/>
                          </a:solidFill>
                          <a:latin typeface="Segoe UI"/>
                        </a:rPr>
                        <a:t>Отделка и инженерные системы, спецтехника заказчика</a:t>
                      </a:r>
                    </a:p>
                  </a:txBody>
                  <a:tcPr anchor="ctr"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6A1B2"/>
                          </a:solidFill>
                          <a:latin typeface="Segoe UI"/>
                        </a:rPr>
                        <a:t>Методика и справочник — это данные: добавление этапа не меняет код</a:t>
                      </a:r>
                    </a:p>
                  </a:txBody>
                  <a:tcPr anchor="ctr">
                    <a:solidFill>
                      <a:srgbClr val="141A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E8EBF0"/>
                          </a:solidFill>
                          <a:latin typeface="Segoe UI"/>
                        </a:rPr>
                        <a:t>Интеграция с ИСУП</a:t>
                      </a:r>
                    </a:p>
                  </a:txBody>
                  <a:tcPr anchor="ctr"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6A1B2"/>
                          </a:solidFill>
                          <a:latin typeface="Segoe UI"/>
                        </a:rPr>
                        <a:t>План приходит сам, отклонение уходит в задачу подрядчику</a:t>
                      </a:r>
                    </a:p>
                  </a:txBody>
                  <a:tcPr anchor="ctr"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6A1B2"/>
                          </a:solidFill>
                          <a:latin typeface="Segoe UI"/>
                        </a:rPr>
                        <a:t>Импорт графика по API вместо файла, вебхуки на отклонения</a:t>
                      </a:r>
                    </a:p>
                  </a:txBody>
                  <a:tcPr anchor="ctr">
                    <a:solidFill>
                      <a:srgbClr val="141A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E8EBF0"/>
                          </a:solidFill>
                          <a:latin typeface="Segoe UI"/>
                        </a:rPr>
                        <a:t>Дообучение на своих данных</a:t>
                      </a:r>
                    </a:p>
                  </a:txBody>
                  <a:tcPr anchor="ctr"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6A1B2"/>
                          </a:solidFill>
                          <a:latin typeface="Segoe UI"/>
                        </a:rPr>
                        <a:t>Рост качества на конкретных площадках заказчика</a:t>
                      </a:r>
                    </a:p>
                  </a:txBody>
                  <a:tcPr anchor="ctr"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6A1B2"/>
                          </a:solidFill>
                          <a:latin typeface="Segoe UI"/>
                        </a:rPr>
                        <a:t>Разметка спорных кадров из накопленной истории</a:t>
                      </a:r>
                    </a:p>
                  </a:txBody>
                  <a:tcPr anchor="ctr">
                    <a:solidFill>
                      <a:srgbClr val="141A2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4D92F8"/>
                </a:solidFill>
                <a:latin typeface="Segoe UI"/>
              </a:rPr>
              <a:t>ИТОГ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41248"/>
            <a:ext cx="10874959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E8EBF0"/>
                </a:solidFill>
                <a:latin typeface="Segoe UI"/>
              </a:rPr>
              <a:t>Что закрыто по требованиям ТЗ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" y="1755648"/>
          <a:ext cx="10874959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37479"/>
                <a:gridCol w="5437480"/>
              </a:tblGrid>
              <a:tr h="384048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E8EBF0"/>
                          </a:solidFill>
                          <a:latin typeface="Segoe UI"/>
                        </a:rPr>
                        <a:t>Требование раздела 2</a:t>
                      </a:r>
                    </a:p>
                  </a:txBody>
                  <a:tcPr anchor="ctr">
                    <a:solidFill>
                      <a:srgbClr val="1C25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E8EBF0"/>
                          </a:solidFill>
                          <a:latin typeface="Segoe UI"/>
                        </a:rPr>
                        <a:t>Реализация</a:t>
                      </a:r>
                    </a:p>
                  </a:txBody>
                  <a:tcPr anchor="ctr">
                    <a:solidFill>
                      <a:srgbClr val="1C25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E8EBF0"/>
                          </a:solidFill>
                          <a:latin typeface="Segoe UI"/>
                        </a:rPr>
                        <a:t>Обнаружение и классификация техники</a:t>
                      </a:r>
                    </a:p>
                  </a:txBody>
                  <a:tcPr anchor="ctr"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6A1B2"/>
                          </a:solidFill>
                          <a:latin typeface="Segoe UI"/>
                        </a:rPr>
                        <a:t>YOLOv8m, 12 классов, mAP@50 0.859, пороги уверенности на класс</a:t>
                      </a:r>
                    </a:p>
                  </a:txBody>
                  <a:tcPr anchor="ctr">
                    <a:solidFill>
                      <a:srgbClr val="141A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E8EBF0"/>
                          </a:solidFill>
                          <a:latin typeface="Segoe UI"/>
                        </a:rPr>
                        <a:t>Сопоставление с графиком СМР</a:t>
                      </a:r>
                    </a:p>
                  </a:txBody>
                  <a:tcPr anchor="ctr"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6A1B2"/>
                          </a:solidFill>
                          <a:latin typeface="Segoe UI"/>
                        </a:rPr>
                        <a:t>Методика «этап → техника»: 4 этапа, маркеры и звенья, план из CSV и Excel</a:t>
                      </a:r>
                    </a:p>
                  </a:txBody>
                  <a:tcPr anchor="ctr">
                    <a:solidFill>
                      <a:srgbClr val="141A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E8EBF0"/>
                          </a:solidFill>
                          <a:latin typeface="Segoe UI"/>
                        </a:rPr>
                        <a:t>Визуализация результатов</a:t>
                      </a:r>
                    </a:p>
                  </a:txBody>
                  <a:tcPr anchor="ctr"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6A1B2"/>
                          </a:solidFill>
                          <a:latin typeface="Segoe UI"/>
                        </a:rPr>
                        <a:t>Дашборд города, карточка объекта, снимок с рамками, разбор площадки</a:t>
                      </a:r>
                    </a:p>
                  </a:txBody>
                  <a:tcPr anchor="ctr">
                    <a:solidFill>
                      <a:srgbClr val="141A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E8EBF0"/>
                          </a:solidFill>
                          <a:latin typeface="Segoe UI"/>
                        </a:rPr>
                        <a:t>Выявление отклонений</a:t>
                      </a:r>
                    </a:p>
                  </a:txBody>
                  <a:tcPr anchor="ctr"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6A1B2"/>
                          </a:solidFill>
                          <a:latin typeface="Segoe UI"/>
                        </a:rPr>
                        <a:t>3 типа отклонений с зоной работ и снимками-подтверждениями</a:t>
                      </a:r>
                    </a:p>
                  </a:txBody>
                  <a:tcPr anchor="ctr">
                    <a:solidFill>
                      <a:srgbClr val="141A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E8EBF0"/>
                          </a:solidFill>
                          <a:latin typeface="Segoe UI"/>
                        </a:rPr>
                        <a:t>Пример из ТЗ про котлован</a:t>
                      </a:r>
                    </a:p>
                  </a:txBody>
                  <a:tcPr anchor="ctr"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6A1B2"/>
                          </a:solidFill>
                          <a:latin typeface="Segoe UI"/>
                        </a:rPr>
                        <a:t>Экскаватор без самосвалов даёт предупреждение; закреплено тестом</a:t>
                      </a:r>
                    </a:p>
                  </a:txBody>
                  <a:tcPr anchor="ctr">
                    <a:solidFill>
                      <a:srgbClr val="141A2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E8EBF0"/>
                          </a:solidFill>
                          <a:latin typeface="Segoe UI"/>
                        </a:rPr>
                        <a:t>Запуск и воспроизводимость</a:t>
                      </a:r>
                    </a:p>
                  </a:txBody>
                  <a:tcPr anchor="ctr">
                    <a:solidFill>
                      <a:srgbClr val="141A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96A1B2"/>
                          </a:solidFill>
                          <a:latin typeface="Segoe UI"/>
                        </a:rPr>
                        <a:t>Docker Compose, скрипт загрузки весов, тесты методики, отчёт о тестировании</a:t>
                      </a:r>
                    </a:p>
                  </a:txBody>
                  <a:tcPr anchor="ctr">
                    <a:solidFill>
                      <a:srgbClr val="141A2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4636008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4D92F8"/>
                </a:solidFill>
                <a:latin typeface="Segoe UI"/>
              </a:rPr>
              <a:t>Прототип запускается одной командой: docker compose up --build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